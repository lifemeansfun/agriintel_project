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c8a8341ab14b86" /><Relationship Type="http://schemas.openxmlformats.org/officeDocument/2006/relationships/extended-properties" Target="/docProps/app.xml" Id="Rddd5473a076d4085" /><Relationship Type="http://schemas.openxmlformats.org/officeDocument/2006/relationships/officeDocument" Target="/ppt/presentation.xml" Id="R6af6ef7c6c60428c" /></Relationships>
</file>

<file path=ppt/presentation.xml><?xml version="1.0" encoding="utf-8"?>
<p:presentation xmlns:p="http://schemas.openxmlformats.org/presentationml/2006/main">
  <p:sldMasterIdLst>
    <p:sldMasterId xmlns:r="http://schemas.openxmlformats.org/officeDocument/2006/relationships" id="2147483648" r:id="Rc4f807068fca4b94"/>
  </p:sldMasterIdLst>
  <p:notesMasterIdLst>
    <p:notesMasterId xmlns:r="http://schemas.openxmlformats.org/officeDocument/2006/relationships" r:id="Rf8d7c4afd9ed4a89"/>
  </p:notesMasterIdLst>
  <p:sldIdLst>
    <p:sldId xmlns:r="http://schemas.openxmlformats.org/officeDocument/2006/relationships" id="256" r:id="Rc76c4fe2ffb04bf0"/>
    <p:sldId xmlns:r="http://schemas.openxmlformats.org/officeDocument/2006/relationships" id="257" r:id="Rce3a14485c704d94"/>
    <p:sldId xmlns:r="http://schemas.openxmlformats.org/officeDocument/2006/relationships" id="258" r:id="Re5dfaebe27334f2e"/>
    <p:sldId xmlns:r="http://schemas.openxmlformats.org/officeDocument/2006/relationships" id="259" r:id="Re811da7b9e5146d7"/>
    <p:sldId xmlns:r="http://schemas.openxmlformats.org/officeDocument/2006/relationships" id="260" r:id="Rafe9ecf2f34c48dc"/>
    <p:sldId xmlns:r="http://schemas.openxmlformats.org/officeDocument/2006/relationships" id="261" r:id="R459985e592924b41"/>
    <p:sldId xmlns:r="http://schemas.openxmlformats.org/officeDocument/2006/relationships" id="262" r:id="R6984f4a12dd24c9f"/>
    <p:sldId xmlns:r="http://schemas.openxmlformats.org/officeDocument/2006/relationships" id="263" r:id="Rb1e7355b68284d85"/>
    <p:sldId xmlns:r="http://schemas.openxmlformats.org/officeDocument/2006/relationships" id="264" r:id="R0b0e97ee38254851"/>
    <p:sldId xmlns:r="http://schemas.openxmlformats.org/officeDocument/2006/relationships" id="265" r:id="R3b7e621b728a4a9b"/>
    <p:sldId xmlns:r="http://schemas.openxmlformats.org/officeDocument/2006/relationships" id="266" r:id="Rf2d0c337975c47e9"/>
    <p:sldId xmlns:r="http://schemas.openxmlformats.org/officeDocument/2006/relationships" id="267" r:id="R0cbf3647658f4339"/>
    <p:sldId xmlns:r="http://schemas.openxmlformats.org/officeDocument/2006/relationships" id="268" r:id="R535be4e50bcb45c7"/>
    <p:sldId xmlns:r="http://schemas.openxmlformats.org/officeDocument/2006/relationships" id="269" r:id="Rc5504ecf33274d5a"/>
    <p:sldId xmlns:r="http://schemas.openxmlformats.org/officeDocument/2006/relationships" id="270" r:id="R706ea9e254be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3a85351bc3498f" /><Relationship Type="http://schemas.openxmlformats.org/officeDocument/2006/relationships/slideMaster" Target="/ppt/slideMasters/slideMaster1.xml" Id="Rc4f807068fca4b94" /><Relationship Type="http://schemas.openxmlformats.org/officeDocument/2006/relationships/notesMaster" Target="/ppt/notesMasters/notesMaster1.xml" Id="Rf8d7c4afd9ed4a89" /><Relationship Type="http://schemas.openxmlformats.org/officeDocument/2006/relationships/presProps" Target="/ppt/presProps.xml" Id="R4b17c9585bcc494e" /><Relationship Type="http://schemas.openxmlformats.org/officeDocument/2006/relationships/tableStyles" Target="/ppt/tableStyles.xml" Id="R8d0b15e810af4ac2" /><Relationship Type="http://schemas.openxmlformats.org/officeDocument/2006/relationships/slide" Target="/ppt/slides/slide1.xml" Id="Rc76c4fe2ffb04bf0" /><Relationship Type="http://schemas.openxmlformats.org/officeDocument/2006/relationships/slide" Target="/ppt/slides/slide2.xml" Id="Rce3a14485c704d94" /><Relationship Type="http://schemas.openxmlformats.org/officeDocument/2006/relationships/slide" Target="/ppt/slides/slide3.xml" Id="Re5dfaebe27334f2e" /><Relationship Type="http://schemas.openxmlformats.org/officeDocument/2006/relationships/slide" Target="/ppt/slides/slide4.xml" Id="Re811da7b9e5146d7" /><Relationship Type="http://schemas.openxmlformats.org/officeDocument/2006/relationships/slide" Target="/ppt/slides/slide5.xml" Id="Rafe9ecf2f34c48dc" /><Relationship Type="http://schemas.openxmlformats.org/officeDocument/2006/relationships/slide" Target="/ppt/slides/slide6.xml" Id="R459985e592924b41" /><Relationship Type="http://schemas.openxmlformats.org/officeDocument/2006/relationships/slide" Target="/ppt/slides/slide7.xml" Id="R6984f4a12dd24c9f" /><Relationship Type="http://schemas.openxmlformats.org/officeDocument/2006/relationships/slide" Target="/ppt/slides/slide8.xml" Id="Rb1e7355b68284d85" /><Relationship Type="http://schemas.openxmlformats.org/officeDocument/2006/relationships/slide" Target="/ppt/slides/slide9.xml" Id="R0b0e97ee38254851" /><Relationship Type="http://schemas.openxmlformats.org/officeDocument/2006/relationships/slide" Target="/ppt/slides/slide10.xml" Id="R3b7e621b728a4a9b" /><Relationship Type="http://schemas.openxmlformats.org/officeDocument/2006/relationships/slide" Target="/ppt/slides/slide11.xml" Id="Rf2d0c337975c47e9" /><Relationship Type="http://schemas.openxmlformats.org/officeDocument/2006/relationships/slide" Target="/ppt/slides/slide12.xml" Id="R0cbf3647658f4339" /><Relationship Type="http://schemas.openxmlformats.org/officeDocument/2006/relationships/slide" Target="/ppt/slides/slide13.xml" Id="R535be4e50bcb45c7" /><Relationship Type="http://schemas.openxmlformats.org/officeDocument/2006/relationships/slide" Target="/ppt/slides/slide14.xml" Id="Rc5504ecf33274d5a" /><Relationship Type="http://schemas.openxmlformats.org/officeDocument/2006/relationships/slide" Target="/ppt/slides/slide15.xml" Id="R706ea9e254be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5b272a1835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6a5e5bd184bd4" /><Relationship Type="http://schemas.openxmlformats.org/officeDocument/2006/relationships/notesMaster" Target="/ppt/notesMasters/notesMaster1.xml" Id="Rff54e6a252be42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6b4e46cafe4670" /><Relationship Type="http://schemas.openxmlformats.org/officeDocument/2006/relationships/notesMaster" Target="/ppt/notesMasters/notesMaster1.xml" Id="R5be501a3164b4e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5f5e17f76246c1" /><Relationship Type="http://schemas.openxmlformats.org/officeDocument/2006/relationships/notesMaster" Target="/ppt/notesMasters/notesMaster1.xml" Id="Rd096cbee237b4b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5725a88f314608" /><Relationship Type="http://schemas.openxmlformats.org/officeDocument/2006/relationships/notesMaster" Target="/ppt/notesMasters/notesMaster1.xml" Id="R4b1656246fe646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add427c2ff4172" /><Relationship Type="http://schemas.openxmlformats.org/officeDocument/2006/relationships/notesMaster" Target="/ppt/notesMasters/notesMaster1.xml" Id="Rbdbced36d93d40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fdd26b877a4fbd" /><Relationship Type="http://schemas.openxmlformats.org/officeDocument/2006/relationships/notesMaster" Target="/ppt/notesMasters/notesMaster1.xml" Id="R227f68ed9dad4a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d0ad05a5e646ef" /><Relationship Type="http://schemas.openxmlformats.org/officeDocument/2006/relationships/notesMaster" Target="/ppt/notesMasters/notesMaster1.xml" Id="Reb6afc73ec104c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729ec2477a489b" /><Relationship Type="http://schemas.openxmlformats.org/officeDocument/2006/relationships/notesMaster" Target="/ppt/notesMasters/notesMaster1.xml" Id="R44f10e6256cd45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75d3e0d04a4d4a" /><Relationship Type="http://schemas.openxmlformats.org/officeDocument/2006/relationships/notesMaster" Target="/ppt/notesMasters/notesMaster1.xml" Id="Rab142211b01d44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da9b8c10744317" /><Relationship Type="http://schemas.openxmlformats.org/officeDocument/2006/relationships/notesMaster" Target="/ppt/notesMasters/notesMaster1.xml" Id="R36f69cd55f6648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84b022fcf44651" /><Relationship Type="http://schemas.openxmlformats.org/officeDocument/2006/relationships/notesMaster" Target="/ppt/notesMasters/notesMaster1.xml" Id="Raddf11b1c90148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9e65ab00c24667" /><Relationship Type="http://schemas.openxmlformats.org/officeDocument/2006/relationships/notesMaster" Target="/ppt/notesMasters/notesMaster1.xml" Id="R9cb42f535f8f4c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0549b57fe146fa" /><Relationship Type="http://schemas.openxmlformats.org/officeDocument/2006/relationships/notesMaster" Target="/ppt/notesMasters/notesMaster1.xml" Id="R5813f684749743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a0a76b24224a46" /><Relationship Type="http://schemas.openxmlformats.org/officeDocument/2006/relationships/notesMaster" Target="/ppt/notesMasters/notesMaster1.xml" Id="Re8391fddfe3647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9a9e77d91d40ec" /><Relationship Type="http://schemas.openxmlformats.org/officeDocument/2006/relationships/notesMaster" Target="/ppt/notesMasters/notesMaster1.xml" Id="R2ed5a1354955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AgriIntel combines district-level yield forecasting, financial scenarios and a regional planting-coordination design. Team details supplied directly by the user. Existing landscape artwork is an illustration from frontend/public/bg-night.webp; it is not a photograph or an image of an observed farm.</a:t>
            </a:r>
          </a:p>
          <a:p xmlns:a="http://schemas.openxmlformats.org/drawingml/2006/main">
            <a:r>
              <a:t/>
            </a:r>
          </a:p>
          <a:p xmlns:a="http://schemas.openxmlformats.org/drawingml/2006/main">
            <a:r>
              <a:t>Sources:</a:t>
            </a:r>
          </a:p>
          <a:p xmlns:a="http://schemas.openxmlformats.org/drawingml/2006/main">
            <a:r>
              <a:t>/Users/manishharigovind/Downloads/DSP Course Project.pdf</a:t>
            </a:r>
          </a:p>
          <a:p xmlns:a="http://schemas.openxmlformats.org/drawingml/2006/main">
            <a:r>
              <a:t>/Users/manishharigovind/Desktop/VIT Vellore/5th semester/Data science proogramming/DSP_project/logs/feasibility_review_2026-10-13/ASSESSMENT.md</a:t>
            </a:r>
          </a:p>
          <a:p xmlns:a="http://schemas.openxmlformats.org/drawingml/2006/main">
            <a:r>
              <a:t>/Users/manishharigovind/Desktop/VIT Vellore/5th semester/Data science proogramming/DSP_project/frontend/public/bg-night.webp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chain is a conceptual mechanism under the project price simulation, not a universal causal law. Total marketed supply, demand, transport, procurement and storage also affect prices. Do not say that adoption directly reduces yield per hectare.</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proogramming/DSP_project/logs/feasibility_review_2026-10-13/ASSESSMENT.md</a:t>
            </a:r>
          </a:p>
          <a:p xmlns:a="http://schemas.openxmlformats.org/drawingml/2006/main">
            <a:r>
              <a:t>https://proceedings.mlr.press/v119/perdomo20a.html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objectives connect yield uncertainty and transparent financial scenarios to bounded planting coordination. The existing five states are Madhya Pradesh, Maharashtra, Punjab, Tamil Nadu and Uttar Pradesh. Historical metrics and prospective economic benefits have different evidence requirements.</a:t>
            </a:r>
          </a:p>
          <a:p xmlns:a="http://schemas.openxmlformats.org/drawingml/2006/main">
            <a:r>
              <a:t/>
            </a:r>
          </a:p>
          <a:p xmlns:a="http://schemas.openxmlformats.org/drawingml/2006/main">
            <a:r>
              <a:t>Sources:</a:t>
            </a:r>
          </a:p>
          <a:p xmlns:a="http://schemas.openxmlformats.org/drawingml/2006/main">
            <a:r>
              <a:t>/Users/manishharigovind/Downloads/DSP Course Project.pdf</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specifies the proposed connection between the React/FastAPI advisory flow and ledger-based supply estimates. This is a regional simulation architecture. No live national supply is observed. The existing service serves saved recommendation artifacts.</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proogramming/DSP_project/backend/main.py</a:t>
            </a:r>
          </a:p>
          <a:p xmlns:a="http://schemas.openxmlformats.org/drawingml/2006/main">
            <a:r>
              <a:t>/Users/manishharigovind/Desktop/VIT Vellore/5th semester/Data science proogramming/DSP_project/modules/m6_market/supply_ledger.py</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verified by reading project CSV/Parquet in this chat. Raw has 29 columns, cleaned has 34 including provenance flags. The repository attributes upstream agronomic sources to official datasets, but a complete preserved raw lineage has not been verified. Use the local merged CSV as the direct data source. The cleanup is not seven duplicate deletions: manifest reports one exact duplicate, five key collisions and one quarantined record. Inflation source code uses World Bank CPI. MSP registry and cultivation costs are generated proxies.</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proogramming/DSP_project/agriIntel_merged_final_v.csv</a:t>
            </a:r>
          </a:p>
          <a:p xmlns:a="http://schemas.openxmlformats.org/drawingml/2006/main">
            <a:r>
              <a:t>/Users/manishharigovind/Desktop/VIT Vellore/5th semester/Data science proogramming/DSP_project/data/processed/m0_audit_manifest.json</a:t>
            </a:r>
          </a:p>
          <a:p xmlns:a="http://schemas.openxmlformats.org/drawingml/2006/main">
            <a:r>
              <a:t>/Users/manishharigovind/Desktop/VIT Vellore/5th semester/Data science proogramming/DSP_project/modules/m1_economic_etl/msp_generator.py</a:t>
            </a:r>
          </a:p>
          <a:p xmlns:a="http://schemas.openxmlformats.org/drawingml/2006/main">
            <a:r>
              <a:t>/Users/manishharigovind/Desktop/VIT Vellore/5th semester/Data science proogramming/DSP_project/modules/m1_economic_etl/profit_calculator.py</a:t>
            </a:r>
          </a:p>
          <a:p xmlns:a="http://schemas.openxmlformats.org/drawingml/2006/main">
            <a:r>
              <a:t>https://data.desagri.gov.in/website/apy-query-report-web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isolation requires group-local rolling windows and fold-local fitted statistics. A calendar-based window should handle missing years explicitly. Realized full-season rainfall and final observed yield cannot supply pre-sowing inputs. Tree models do not require standardization as a default; encoding and cutoff handling remain necessary. Source inspection identified group-boundary and all-period fallback issues in the historical pipeline, so its metrics require cautious interpretation.</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proogramming/DSP_project/modules/m3_yield/features.py</a:t>
            </a:r>
          </a:p>
          <a:p xmlns:a="http://schemas.openxmlformats.org/drawingml/2006/main">
            <a:r>
              <a:t>/Users/manishharigovind/Desktop/VIT Vellore/5th semester/Data science proogramming/DSP_project/modules/m3_yield/baselines.py</a:t>
            </a:r>
          </a:p>
          <a:p xmlns:a="http://schemas.openxmlformats.org/drawingml/2006/main">
            <a:r>
              <a:t>/Users/manishharigovind/Desktop/VIT Vellore/5th semester/Data science proogramming/DSP_project/modules/m0_audit_gate/sanitizer.R</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Parameters taken from config/pipeline.yaml and ensemble.py. Three LightGBM quantile models per temporal fold; no XGBoost, Optuna tuning or actual trained GNN is claimed. Calibration aims at an 80% interval but coverage must be evaluated across crop families and changing seasons. Imputation and feature statistics must use available past data. Prospective accuracy requires a fresh backtest with historical isolation. Configuration includes early_stopping_rounds, but existing fit does not actually use it; the slide does not claim early stopping.</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proogramming/DSP_project/config/pipeline.yaml</a:t>
            </a:r>
          </a:p>
          <a:p xmlns:a="http://schemas.openxmlformats.org/drawingml/2006/main">
            <a:r>
              <a:t>/Users/manishharigovind/Desktop/VIT Vellore/5th semester/Data science proogramming/DSP_project/modules/m3_yield/ensemble.py</a:t>
            </a:r>
          </a:p>
          <a:p xmlns:a="http://schemas.openxmlformats.org/drawingml/2006/main">
            <a:r>
              <a:t>https://lightgbm.readthedocs.io/en/stable/Parameters.html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yield times median price is a central scenario, not a mathematical expectation. Pairing marginal lower quantiles does not identify a profit quantile or VaR. Costs must be known or entered before sowing, rather than derived from final observed yield. Price response is a disclosed structural simulation; no empirical price forecasting accuracy is claimed. A common scenario objective keeps recommendation and allocation economically consistent. True expected profit and calibrated tails would require a joint distribution and validation.</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proogramming/DSP_project/modules/m5_profit/engine.py</a:t>
            </a:r>
          </a:p>
          <a:p xmlns:a="http://schemas.openxmlformats.org/drawingml/2006/main">
            <a:r>
              <a:t>/Users/manishharigovind/Desktop/VIT Vellore/5th semester/Data science proogramming/DSP_project/modules/m5_profit/ranker.py</a:t>
            </a:r>
          </a:p>
          <a:p xmlns:a="http://schemas.openxmlformats.org/drawingml/2006/main">
            <a:r>
              <a:t>/Users/manishharigovind/Desktop/VIT Vellore/5th semester/Data science proogramming/DSP_project/modules/m4_price/quantile_regressor.py</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not measured allocator performance. Onion threshold 700 ha comes from the current demo context and illustrates a capacity contract. The proposed transaction must enforce quantity-aware crop thresholds and land totals, validate finite positive area, and support idempotent retries, expiry, revision and cancellation. Ledger identity includes location/market catchment, season and harvest year. Farmer-specific quantities require valid farmer-specific yields; otherwise use clearly district-level forecasts.</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proogramming/DSP_project/modules/m6_market/supply_ledger.py</a:t>
            </a:r>
          </a:p>
          <a:p xmlns:a="http://schemas.openxmlformats.org/drawingml/2006/main">
            <a:r>
              <a:t>/Users/manishharigovind/Desktop/VIT Vellore/5th semester/Data science proogramming/DSP_project/modules/m7_allocator/online_allocator.py</a:t>
            </a:r>
          </a:p>
          <a:p xmlns:a="http://schemas.openxmlformats.org/drawingml/2006/main">
            <a:r>
              <a:t>/Users/manishharigovind/Desktop/VIT Vellore/5th semester/Data science proogramming/DSP_project/backend/ledger.py</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Genuine screenshot captured on 13 October 2026 from the current React interface with read-only recommendation API calls. Inputs Tamil Nadu / Coimbatore / Kharif / 1 ha. Existing frontend labels Expected Net Profit, VaR95 floor, Ag-Sharpe and MSP Assured are not validated as those statistical/guarantee meanings. The screenshot shows a historical output and interface example. Native output captions use central/pessimistic scenario interpretation. API returned exact central profit 8748.139150108567, pessimistic -4741.139105695569, median yield 2.6504485472375223. Economic values are real-price modeled estimates based on the repository cost/price proxies.</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proogramming/DSP_project/.codex-ppt-build/app_capture_metadata.json</a:t>
            </a:r>
          </a:p>
          <a:p xmlns:a="http://schemas.openxmlformats.org/drawingml/2006/main">
            <a:r>
              <a:t>/Users/manishharigovind/Desktop/VIT Vellore/5th semester/Data science proogramming/DSP_project/backend/main.py</a:t>
            </a:r>
          </a:p>
          <a:p xmlns:a="http://schemas.openxmlformats.org/drawingml/2006/main">
            <a:r>
              <a:t>/Users/manishharigovind/Desktop/VIT Vellore/5th semester/Data science proogramming/DSP_project/frontend/src/services/adapters.js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saved project metrics independently recomputed from historical artifacts. This does not validate prospective accuracy: both feature construction and baseline preprocessing had information-isolation defects. Chart: (baseline RMSE-model RMSE)/baseline RMSE. Positive values favor LightGBM, negative favor baseline. Full family names Spices &amp; Plantation and Vegetables &amp; Tubers shortened on chart only.</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proogramming/DSP_project/data/processed/m3_yield_evaluation_manifest.json</a:t>
            </a:r>
          </a:p>
          <a:p xmlns:a="http://schemas.openxmlformats.org/drawingml/2006/main">
            <a:r>
              <a:t>/Users/manishharigovind/Desktop/VIT Vellore/5th semester/Data science proogramming/DSP_project/data/processed/fact_yield_predictions_oof.parquet</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M5 metrics: baseline NDCG@3 0.8805343955 vs model 0.7581938299; baseline top1-in-top3 85.2358168% vs model 68.7286398%. NDCG compares top-three ordering quality, higher is better. Top-choice metric checks whether recommended rank 1 is in modeled realized top 3. Simulated prices define the economic target, not observed farmer sale outcomes. Best saved overall ranker is previous-year modeled-profit baseline. No prospective field-income study is available.</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proogramming/DSP_project/data/processed/m5_ranking_manifest.json</a:t>
            </a:r>
          </a:p>
          <a:p xmlns:a="http://schemas.openxmlformats.org/drawingml/2006/main">
            <a:r>
              <a:t>/Users/manishharigovind/Desktop/VIT Vellore/5th semester/Data science proogramming/DSP_project/modules/m5_profit/evaluator.py</a:t>
            </a:r>
          </a:p>
          <a:p xmlns:a="http://schemas.openxmlformats.org/drawingml/2006/main">
            <a:r>
              <a:t>/Users/manishharigovind/Desktop/VIT Vellore/5th semester/Data science proogramming/DSP_project/logs/feasibility_review_2026-10-13/ASSESSMENT.md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acceptance criteria define the checks needed for dependable operation. They are not new measured pass results. Existing selected tests passed despite counterexamples in the audit. Model-performance claims need historically isolated evaluation, and economic-benefit claims need prospective outcomes. Edge/privacy helpers remain separate research scope and are not asserted production-ready.</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proogramming/DSP_project/logs/feasibility_review_2026-10-13/ASSESSMENT.md</a:t>
            </a:r>
          </a:p>
          <a:p xmlns:a="http://schemas.openxmlformats.org/drawingml/2006/main">
            <a:r>
              <a:t>/Users/manishharigovind/Desktop/VIT Vellore/5th semester/Data science proogramming/DSP_project/logs/feasibility_review_2026-10-13/targeted_tests.txt</a:t>
            </a:r>
          </a:p>
          <a:p xmlns:a="http://schemas.openxmlformats.org/drawingml/2006/main">
            <a:r>
              <a:t>/Users/manishharigovind/Desktop/VIT Vellore/5th semester/Data science proogramming/DSP_project/logs/feasibility_review_2026-10-13/correctness_probes.json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regional architecture links crop advice to planting coordination. Future national scope is a coverage audit and staged validated forecasting, not uniform reliable predictions everywhere. No patentability, Nash equilibrium, no-harm, guaranteed glut prevention or demonstrated welfare claims. Broad prediction-induced feedback is established research. Existing illustration from frontend/public/bg-day.webp.</a:t>
            </a:r>
          </a:p>
          <a:p xmlns:a="http://schemas.openxmlformats.org/drawingml/2006/main">
            <a:r>
              <a:t/>
            </a:r>
          </a:p>
          <a:p xmlns:a="http://schemas.openxmlformats.org/drawingml/2006/main">
            <a:r>
              <a:t>Sources:</a:t>
            </a:r>
          </a:p>
          <a:p xmlns:a="http://schemas.openxmlformats.org/drawingml/2006/main">
            <a:r>
              <a:t>/Users/manishharigovind/Desktop/VIT Vellore/5th semester/Data science proogramming/DSP_project/logs/feasibility_review_2026-10-13/ASSESSMENT.md</a:t>
            </a:r>
          </a:p>
          <a:p xmlns:a="http://schemas.openxmlformats.org/drawingml/2006/main">
            <a:r>
              <a:t>https://lgdirectory.gov.in/</a:t>
            </a:r>
          </a:p>
          <a:p xmlns:a="http://schemas.openxmlformats.org/drawingml/2006/main">
            <a:r>
              <a:t>https://proceedings.mlr.press/v119/perdomo20a.html</a:t>
            </a:r>
          </a:p>
          <a:p xmlns:a="http://schemas.openxmlformats.org/drawingml/2006/main">
            <a:r>
              <a:t>/Users/manishharigovind/Desktop/VIT Vellore/5th semester/Data science proogramming/DSP_project/frontend/public/bg-day.webp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project sources and research references. Course presentation structure follows the user-supplied PDF. Upstream lineage completeness is unverified, and economic values use disclosed proxies.</a:t>
            </a:r>
          </a:p>
          <a:p xmlns:a="http://schemas.openxmlformats.org/drawingml/2006/main">
            <a:r>
              <a:t/>
            </a:r>
          </a:p>
          <a:p xmlns:a="http://schemas.openxmlformats.org/drawingml/2006/main">
            <a:r>
              <a:t>Sources:</a:t>
            </a:r>
          </a:p>
          <a:p xmlns:a="http://schemas.openxmlformats.org/drawingml/2006/main">
            <a:r>
              <a:t>/Users/manishharigovind/Downloads/DSP Course Project.pdf</a:t>
            </a:r>
          </a:p>
          <a:p xmlns:a="http://schemas.openxmlformats.org/drawingml/2006/main">
            <a:r>
              <a:t>/Users/manishharigovind/Desktop/VIT Vellore/5th semester/Data science proogramming/DSP_project/agriIntel_merged_final_v.csv</a:t>
            </a:r>
          </a:p>
          <a:p xmlns:a="http://schemas.openxmlformats.org/drawingml/2006/main">
            <a:r>
              <a:t>/Users/manishharigovind/Desktop/VIT Vellore/5th semester/Data science proogramming/DSP_project/data/processed/m0_audit_manifest.json</a:t>
            </a:r>
          </a:p>
          <a:p xmlns:a="http://schemas.openxmlformats.org/drawingml/2006/main">
            <a:r>
              <a:t>/Users/manishharigovind/Desktop/VIT Vellore/5th semester/Data science proogramming/DSP_project/data/processed/m3_yield_evaluation_manifest.json</a:t>
            </a:r>
          </a:p>
          <a:p xmlns:a="http://schemas.openxmlformats.org/drawingml/2006/main">
            <a:r>
              <a:t>/Users/manishharigovind/Desktop/VIT Vellore/5th semester/Data science proogramming/DSP_project/data/processed/m5_ranking_manifest.json</a:t>
            </a:r>
          </a:p>
          <a:p xmlns:a="http://schemas.openxmlformats.org/drawingml/2006/main">
            <a:r>
              <a:t>/Users/manishharigovind/Desktop/VIT Vellore/5th semester/Data science proogramming/DSP_project/config/pipeline.yaml</a:t>
            </a:r>
          </a:p>
          <a:p xmlns:a="http://schemas.openxmlformats.org/drawingml/2006/main">
            <a:r>
              <a:t>/Users/manishharigovind/Desktop/VIT Vellore/5th semester/Data science proogramming/DSP_project/logs/feasibility_review_2026-10-13/ASSESSMENT.md</a:t>
            </a:r>
          </a:p>
          <a:p xmlns:a="http://schemas.openxmlformats.org/drawingml/2006/main">
            <a:r>
              <a:t>https://data.desagri.gov.in/website/apy-query-report-web</a:t>
            </a:r>
          </a:p>
          <a:p xmlns:a="http://schemas.openxmlformats.org/drawingml/2006/main">
            <a:r>
              <a:t>https://imdpune.gov.in/cmpg/Griddata/Rainfall_25_Bin.html</a:t>
            </a:r>
          </a:p>
          <a:p xmlns:a="http://schemas.openxmlformats.org/drawingml/2006/main">
            <a:r>
              <a:t>https://api.worldbank.org/v2/country/IND/indicator/FP.CPI.TOTL</a:t>
            </a:r>
          </a:p>
          <a:p xmlns:a="http://schemas.openxmlformats.org/drawingml/2006/main">
            <a:r>
              <a:t>https://lightgbm.readthedocs.io/en/stable/Parameters.html</a:t>
            </a:r>
          </a:p>
          <a:p xmlns:a="http://schemas.openxmlformats.org/drawingml/2006/main">
            <a:r>
              <a:t>https://fastapi.tiangolo.com/</a:t>
            </a:r>
          </a:p>
          <a:p xmlns:a="http://schemas.openxmlformats.org/drawingml/2006/main">
            <a:r>
              <a:t>https://react.dev/</a:t>
            </a:r>
          </a:p>
          <a:p xmlns:a="http://schemas.openxmlformats.org/drawingml/2006/main">
            <a:r>
              <a:t>https://proceedings.mlr.press/v119/perdomo20a.html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4b7fa511e45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f705a6d7b04f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2ea5a7931a4d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4f7142354a4a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df00bf04c64e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9cd185b78a4a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4B3D36-F204-4D5F-87B7-B6DD27C98F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69A64B-F7F4-4407-936E-9B8A55DF50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D57786-77E8-45B8-A281-0F10F76A39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A3D2B0-07A5-4563-BF9B-E455E84597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21AD47-EE3F-4205-AAE9-51A8715555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8215F5-0232-4A9C-8834-97021FE48C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8EDA56-C68F-4231-90F1-BAF01C2315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BDE191-ABDD-4D66-A26A-E4D7BDAAE9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5F4BED-2CF6-43AE-8E8C-7457BCFA04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8D2744-A8C0-43B7-89FB-E59BC84F47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1bcec194c4c5b" /><Relationship Type="http://schemas.openxmlformats.org/officeDocument/2006/relationships/slideLayout" Target="/ppt/slideLayouts/slideLayout1.xml" Id="R8db5a9e3dbdd4017" /><Relationship Type="http://schemas.openxmlformats.org/officeDocument/2006/relationships/slideLayout" Target="/ppt/slideLayouts/slideLayout2.xml" Id="R6cd66d82443d4dde" /><Relationship Type="http://schemas.openxmlformats.org/officeDocument/2006/relationships/slideLayout" Target="/ppt/slideLayouts/slideLayout3.xml" Id="R4ffa1179cce34697" /><Relationship Type="http://schemas.openxmlformats.org/officeDocument/2006/relationships/slideLayout" Target="/ppt/slideLayouts/slideLayout4.xml" Id="R540f3d96e739441f" /><Relationship Type="http://schemas.openxmlformats.org/officeDocument/2006/relationships/slideLayout" Target="/ppt/slideLayouts/slideLayout5.xml" Id="Rc9f331e6102848ea" /><Relationship Type="http://schemas.openxmlformats.org/officeDocument/2006/relationships/slideLayout" Target="/ppt/slideLayouts/slideLayout6.xml" Id="Ra758ed0ac1d841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b5a9e3dbdd4017"/>
    <p:sldLayoutId xmlns:r="http://schemas.openxmlformats.org/officeDocument/2006/relationships" id="2147483650" r:id="R6cd66d82443d4dde"/>
    <p:sldLayoutId xmlns:r="http://schemas.openxmlformats.org/officeDocument/2006/relationships" id="2147483651" r:id="R4ffa1179cce34697"/>
    <p:sldLayoutId xmlns:r="http://schemas.openxmlformats.org/officeDocument/2006/relationships" id="2147483652" r:id="R540f3d96e739441f"/>
    <p:sldLayoutId xmlns:r="http://schemas.openxmlformats.org/officeDocument/2006/relationships" id="2147483653" r:id="Rc9f331e6102848ea"/>
    <p:sldLayoutId xmlns:r="http://schemas.openxmlformats.org/officeDocument/2006/relationships" id="2147483654" r:id="Ra758ed0ac1d841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43e96059c34d0c" /><Relationship Type="http://schemas.openxmlformats.org/officeDocument/2006/relationships/image" Target="/ppt/media/image.bin" Id="R87619c6cdab64839" /><Relationship Type="http://schemas.openxmlformats.org/officeDocument/2006/relationships/notesSlide" Target="/ppt/notesSlides/notesSlide1.xml" Id="R1959f797f34640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a9d746da184641" /><Relationship Type="http://schemas.openxmlformats.org/officeDocument/2006/relationships/notesSlide" Target="/ppt/notesSlides/notesSlide2.xml" Id="R34ca4e6a291144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4152417f994479" /><Relationship Type="http://schemas.openxmlformats.org/officeDocument/2006/relationships/notesSlide" Target="/ppt/notesSlides/notesSlide3.xml" Id="R41c23b8b7c0041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435821e7264046" /><Relationship Type="http://schemas.openxmlformats.org/officeDocument/2006/relationships/notesSlide" Target="/ppt/notesSlides/notesSlide4.xml" Id="R79418f716cff4d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401a68c58a482e" /><Relationship Type="http://schemas.openxmlformats.org/officeDocument/2006/relationships/notesSlide" Target="/ppt/notesSlides/notesSlide5.xml" Id="R99ca4515dd2d47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92f1532a6443fa" /><Relationship Type="http://schemas.openxmlformats.org/officeDocument/2006/relationships/notesSlide" Target="/ppt/notesSlides/notesSlide6.xml" Id="R0a87a485b09c42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c9431a48d144db" /><Relationship Type="http://schemas.openxmlformats.org/officeDocument/2006/relationships/notesSlide" Target="/ppt/notesSlides/notesSlide7.xml" Id="Ra6a3573faa924f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886ad597804141" /><Relationship Type="http://schemas.openxmlformats.org/officeDocument/2006/relationships/notesSlide" Target="/ppt/notesSlides/notesSlide8.xml" Id="R5df7b1b36fc343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5a9d882f594c38" /><Relationship Type="http://schemas.openxmlformats.org/officeDocument/2006/relationships/notesSlide" Target="/ppt/notesSlides/notesSlide9.xml" Id="R750c3be7c2a142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fa03a30fda4f26" /><Relationship Type="http://schemas.openxmlformats.org/officeDocument/2006/relationships/image" Target="/ppt/media/image.png" Id="R1c23dbbcda9342ef" /><Relationship Type="http://schemas.openxmlformats.org/officeDocument/2006/relationships/notesSlide" Target="/ppt/notesSlides/notesSlide10.xml" Id="R2b09a4d00b8742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2cf89549824182" /><Relationship Type="http://schemas.openxmlformats.org/officeDocument/2006/relationships/chart" Target="/ppt/slides/charts/chart1.xml" Id="R21d873a0e9764de0" /><Relationship Type="http://schemas.openxmlformats.org/officeDocument/2006/relationships/notesSlide" Target="/ppt/notesSlides/notesSlide11.xml" Id="R196a006fc51a43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fca7fae3174242" /><Relationship Type="http://schemas.openxmlformats.org/officeDocument/2006/relationships/chart" Target="/ppt/slides/charts/chart2.xml" Id="Re47bb5d0f265477d" /><Relationship Type="http://schemas.openxmlformats.org/officeDocument/2006/relationships/chart" Target="/ppt/slides/charts/chart3.xml" Id="R0c7c2d8aa35a4eb2" /><Relationship Type="http://schemas.openxmlformats.org/officeDocument/2006/relationships/notesSlide" Target="/ppt/notesSlides/notesSlide12.xml" Id="R7fdd36f5cf9f46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af3bc225594632" /><Relationship Type="http://schemas.openxmlformats.org/officeDocument/2006/relationships/notesSlide" Target="/ppt/notesSlides/notesSlide13.xml" Id="Ra4d53f4a9e5549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e1fb45195fd48ab" /><Relationship Type="http://schemas.openxmlformats.org/officeDocument/2006/relationships/image" Target="/ppt/media/image2.bin" Id="R25850abb8f3040cf" /><Relationship Type="http://schemas.openxmlformats.org/officeDocument/2006/relationships/notesSlide" Target="/ppt/notesSlides/notesSlide14.xml" Id="Rb625beeb05ce43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2931af8a4804b4d" /><Relationship Type="http://schemas.openxmlformats.org/officeDocument/2006/relationships/notesSlide" Target="/ppt/notesSlides/notesSlide15.xml" Id="Re31f30fdce5b42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reduction vs baseline</c:v>
          </c:tx>
          <c:spPr>
            <a:solidFill xmlns:a="http://schemas.openxmlformats.org/drawingml/2006/main">
              <a:srgbClr val="2B775C"/>
            </a:solidFill>
          </c:spPr>
          <c:invertIfNegative val="0"/>
          <c:dPt>
            <c:idx val="0"/>
            <c:invertIfNegative val="0"/>
            <c:spPr>
              <a:solidFill xmlns:a="http://schemas.openxmlformats.org/drawingml/2006/main">
                <a:srgbClr val="2B775C"/>
              </a:solidFill>
            </c:spPr>
          </c:dPt>
          <c:dPt>
            <c:idx val="1"/>
            <c:invertIfNegative val="0"/>
            <c:spPr>
              <a:solidFill xmlns:a="http://schemas.openxmlformats.org/drawingml/2006/main">
                <a:srgbClr val="2B775C"/>
              </a:solidFill>
            </c:spPr>
          </c:dPt>
          <c:dPt>
            <c:idx val="2"/>
            <c:invertIfNegative val="0"/>
            <c:spPr>
              <a:solidFill xmlns:a="http://schemas.openxmlformats.org/drawingml/2006/main">
                <a:srgbClr val="2B775C"/>
              </a:solidFill>
            </c:spPr>
          </c:dPt>
          <c:dPt>
            <c:idx val="3"/>
            <c:invertIfNegative val="0"/>
            <c:spPr>
              <a:solidFill xmlns:a="http://schemas.openxmlformats.org/drawingml/2006/main">
                <a:srgbClr val="B85F35"/>
              </a:solidFill>
            </c:spPr>
          </c:dPt>
          <c:dPt>
            <c:idx val="4"/>
            <c:invertIfNegative val="0"/>
            <c:spPr>
              <a:solidFill xmlns:a="http://schemas.openxmlformats.org/drawingml/2006/main">
                <a:srgbClr val="B85F35"/>
              </a:solidFill>
            </c:spPr>
          </c:dPt>
          <c:dPt>
            <c:idx val="5"/>
            <c:invertIfNegative val="0"/>
            <c:spPr>
              <a:solidFill xmlns:a="http://schemas.openxmlformats.org/drawingml/2006/main">
                <a:srgbClr val="B85F35"/>
              </a:solidFill>
            </c:spPr>
          </c:dPt>
          <c:cat>
            <c:strRef>
              <c:f>'Chart Data'!$A$2:$A$7</c:f>
              <c:strCache>
                <c:ptCount val="6"/>
                <c:pt idx="0">
                  <c:v>Oilseeds</c:v>
                </c:pt>
                <c:pt idx="1">
                  <c:v>Cereals</c:v>
                </c:pt>
                <c:pt idx="2">
                  <c:v>Pulses</c:v>
                </c:pt>
                <c:pt idx="3">
                  <c:v>Sugar / fiber</c:v>
                </c:pt>
                <c:pt idx="4">
                  <c:v>Spices</c:v>
                </c:pt>
                <c:pt idx="5">
                  <c:v>Vegetables</c:v>
                </c:pt>
              </c:strCache>
            </c:strRef>
          </c:cat>
          <c:val>
            <c:numRef>
              <c:f>'Chart Data'!$B$2:$B$7</c:f>
              <c:numCache>
                <c:formatCode>0%</c:formatCode>
                <c:ptCount val="6"/>
                <c:pt idx="0">
                  <c:v>0.84604</c:v>
                </c:pt>
                <c:pt idx="1">
                  <c:v>0.52198</c:v>
                </c:pt>
                <c:pt idx="2">
                  <c:v>0.2617</c:v>
                </c:pt>
                <c:pt idx="3">
                  <c:v>-0.05413</c:v>
                </c:pt>
                <c:pt idx="4">
                  <c:v>-0.07108</c:v>
                </c:pt>
                <c:pt idx="5">
                  <c:v>-0.07882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3A32"/>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AD3C6"/>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A32"/>
                </a:solidFill>
                <a:latin typeface="Arial"/>
                <a:ea typeface="Arial"/>
                <a:cs typeface="Arial"/>
              </a:defRPr>
            </a:pPr>
          </a:p>
        </c:txPr>
        <c:crossAx val="48672768"/>
      </c:catAx>
      <c:valAx>
        <c:axId val="48672768"/>
        <c:scaling>
          <c:orientation val="minMax"/>
          <c:max val="1"/>
          <c:min val="-0.2"/>
        </c:scaling>
        <c:delete val="0"/>
        <c:axPos val="l"/>
        <c:majorGridlines>
          <c:spPr>
            <a:ln xmlns:a="http://schemas.openxmlformats.org/drawingml/2006/main" w="9525">
              <a:solidFill>
                <a:srgbClr val="CAD3C6"/>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5D"/>
                </a:solidFill>
                <a:latin typeface="Arial"/>
                <a:ea typeface="Arial"/>
                <a:cs typeface="Arial"/>
              </a:defRPr>
            </a:pPr>
          </a:p>
        </c:txPr>
        <c:crossAx val="48650112"/>
        <c:crossBetween val="between"/>
        <c:majorUnit val="0.2"/>
      </c:valAx>
      <c:spPr>
        <a:solidFill xmlns:a="http://schemas.openxmlformats.org/drawingml/2006/main">
          <a:srgbClr val="F5F4EB"/>
        </a:solidFill>
      </c:spPr>
    </c:plotArea>
    <c:plotVisOnly val="1"/>
  </c:chart>
  <c:spPr>
    <a:solidFill xmlns:a="http://schemas.openxmlformats.org/drawingml/2006/main">
      <a:srgbClr val="F5F4E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NDCG@3</c:v>
          </c:tx>
          <c:spPr>
            <a:solidFill xmlns:a="http://schemas.openxmlformats.org/drawingml/2006/main">
              <a:srgbClr val="2B775C"/>
            </a:solidFill>
          </c:spPr>
          <c:dPt>
            <c:idx val="0"/>
            <c:invertIfNegative val="0"/>
            <c:spPr>
              <a:solidFill xmlns:a="http://schemas.openxmlformats.org/drawingml/2006/main">
                <a:srgbClr val="173A32"/>
              </a:solidFill>
            </c:spPr>
          </c:dPt>
          <c:dPt>
            <c:idx val="1"/>
            <c:invertIfNegative val="0"/>
            <c:spPr>
              <a:solidFill xmlns:a="http://schemas.openxmlformats.org/drawingml/2006/main">
                <a:srgbClr val="2B775C"/>
              </a:solidFill>
            </c:spPr>
          </c:dPt>
          <c:cat>
            <c:strRef>
              <c:f>'Chart Data'!$A$2:$A$3</c:f>
              <c:strCache>
                <c:ptCount val="2"/>
                <c:pt idx="0">
                  <c:v>Previous year</c:v>
                </c:pt>
                <c:pt idx="1">
                  <c:v>AgriIntel</c:v>
                </c:pt>
              </c:strCache>
            </c:strRef>
          </c:cat>
          <c:val>
            <c:numRef>
              <c:f>'Chart Data'!$B$2:$B$3</c:f>
              <c:numCache>
                <c:formatCode>0.00</c:formatCode>
                <c:ptCount val="2"/>
                <c:pt idx="0">
                  <c:v>0.8805</c:v>
                </c:pt>
                <c:pt idx="1">
                  <c:v>0.7582</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875" b="1">
                  <a:solidFill>
                    <a:srgbClr val="173A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3A3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AD3C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5D"/>
                </a:solidFill>
                <a:latin typeface="Arial"/>
                <a:ea typeface="Arial"/>
                <a:cs typeface="Arial"/>
              </a:defRPr>
            </a:pPr>
          </a:p>
        </c:txPr>
        <c:crossAx val="48650112"/>
        <c:crossBetween val="between"/>
        <c:majorUnit val="0.2"/>
      </c:valAx>
      <c:spPr>
        <a:solidFill xmlns:a="http://schemas.openxmlformats.org/drawingml/2006/main">
          <a:srgbClr val="F5F4EB"/>
        </a:solidFill>
      </c:spPr>
    </c:plotArea>
    <c:plotVisOnly val="1"/>
  </c:chart>
  <c:spPr>
    <a:solidFill xmlns:a="http://schemas.openxmlformats.org/drawingml/2006/main">
      <a:srgbClr val="F5F4EB"/>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Top choice in realized top 3</c:v>
          </c:tx>
          <c:spPr>
            <a:solidFill xmlns:a="http://schemas.openxmlformats.org/drawingml/2006/main">
              <a:srgbClr val="2B775C"/>
            </a:solidFill>
          </c:spPr>
          <c:dPt>
            <c:idx val="0"/>
            <c:invertIfNegative val="0"/>
            <c:spPr>
              <a:solidFill xmlns:a="http://schemas.openxmlformats.org/drawingml/2006/main">
                <a:srgbClr val="173A32"/>
              </a:solidFill>
            </c:spPr>
          </c:dPt>
          <c:dPt>
            <c:idx val="1"/>
            <c:invertIfNegative val="0"/>
            <c:spPr>
              <a:solidFill xmlns:a="http://schemas.openxmlformats.org/drawingml/2006/main">
                <a:srgbClr val="2B775C"/>
              </a:solidFill>
            </c:spPr>
          </c:dPt>
          <c:cat>
            <c:strRef>
              <c:f>'Chart Data'!$A$2:$A$3</c:f>
              <c:strCache>
                <c:ptCount val="2"/>
                <c:pt idx="0">
                  <c:v>Previous year</c:v>
                </c:pt>
                <c:pt idx="1">
                  <c:v>AgriIntel</c:v>
                </c:pt>
              </c:strCache>
            </c:strRef>
          </c:cat>
          <c:val>
            <c:numRef>
              <c:f>'Chart Data'!$B$2:$B$3</c:f>
              <c:numCache>
                <c:formatCode>0%</c:formatCode>
                <c:ptCount val="2"/>
                <c:pt idx="0">
                  <c:v>0.8524</c:v>
                </c:pt>
                <c:pt idx="1">
                  <c:v>0.6873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73A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3A3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AD3C6"/>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5D"/>
                </a:solidFill>
                <a:latin typeface="Arial"/>
                <a:ea typeface="Arial"/>
                <a:cs typeface="Arial"/>
              </a:defRPr>
            </a:pPr>
          </a:p>
        </c:txPr>
        <c:crossAx val="48650112"/>
        <c:crossBetween val="between"/>
        <c:majorUnit val="0.2"/>
      </c:valAx>
      <c:spPr>
        <a:solidFill xmlns:a="http://schemas.openxmlformats.org/drawingml/2006/main">
          <a:srgbClr val="F5F4EB"/>
        </a:solidFill>
      </c:spPr>
    </c:plotArea>
    <c:plotVisOnly val="1"/>
  </c:chart>
  <c:spPr>
    <a:solidFill xmlns:a="http://schemas.openxmlformats.org/drawingml/2006/main">
      <a:srgbClr val="F5F4EB"/>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9ED2FCF-B1B2-4735-86FA-CD74C85276BF}"/>
              </a:ext>
            </a:extLst>
          </p:cNvPr>
          <p:cNvPicPr>
            <a:picLocks xmlns:a="http://schemas.openxmlformats.org/drawingml/2006/main" noChangeAspect="1"/>
          </p:cNvPicPr>
          <p:nvPr/>
        </p:nvPicPr>
        <p:blipFill>
          <a:blip xmlns:r="http://schemas.openxmlformats.org/officeDocument/2006/relationships" xmlns:a="http://schemas.openxmlformats.org/drawingml/2006/main" r:embed="R87619c6cdab64839"/>
          <a:srcRect xmlns:a="http://schemas.openxmlformats.org/drawingml/2006/main" l="388" t="0" r="38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reading-overlay">
            <a:extLst xmlns:a="http://schemas.openxmlformats.org/drawingml/2006/main">
              <a:ext uri="{FF2B5EF4-FFF2-40B4-BE49-F238E27FC236}">
                <a16:creationId xmlns:a16="http://schemas.microsoft.com/office/drawing/2014/main" id="{B1683D17-7CCA-4303-B4DF-448CDB9AC0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71E2A">
                  <a:alpha val="78000"/>
                </a:srgbClr>
              </a:gs>
              <a:gs pos="60000">
                <a:srgbClr val="071E2A">
                  <a:alpha val="45000"/>
                </a:srgbClr>
              </a:gs>
              <a:gs pos="100000">
                <a:srgbClr val="071E2A">
                  <a:alpha val="12000"/>
                </a:srgbClr>
              </a:gs>
            </a:gsLst>
            <a:lin ang="0"/>
          </a:gra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8F1AF1B0-4D93-48ED-8EC4-6A5AEFE8961B}"/>
              </a:ext>
            </a:extLst>
          </p:cNvPr>
          <p:cNvSpPr>
            <a:spLocks xmlns:a="http://schemas.openxmlformats.org/drawingml/2006/main" noGrp="1"/>
          </p:cNvSpPr>
          <p:nvPr/>
        </p:nvSpPr>
        <p:spPr>
          <a:xfrm xmlns:a="http://schemas.openxmlformats.org/drawingml/2006/main">
            <a:off x="571500" y="70485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stStyle>
          <a:p xmlns:a="http://schemas.openxmlformats.org/drawingml/2006/main">
            <a:pPr algn="l">
              <a:lnSpc>
                <a:spcPct val="110000"/>
              </a:lnSpc>
              <a:buNone/>
              <a:defRPr sz="7500" b="1">
                <a:solidFill>
                  <a:srgbClr val="FFFFFF"/>
                </a:solidFill>
                <a:latin typeface="Arial"/>
                <a:ea typeface="Arial"/>
                <a:cs typeface="Arial"/>
              </a:defRPr>
            </a:pPr>
            <a:r>
              <a:rPr sz="7500" b="1">
                <a:solidFill>
                  <a:srgbClr val="FFFFFF"/>
                </a:solidFill>
                <a:latin typeface="Arial"/>
                <a:ea typeface="Arial"/>
                <a:cs typeface="Arial"/>
              </a:rPr>
              <a:t>AgriIntel</a:t>
            </a:r>
          </a:p>
        </p:txBody>
      </p:sp>
      <p:sp>
        <p:nvSpPr>
          <p:cNvPr id="4" name="cover-subtitle">
            <a:extLst xmlns:a="http://schemas.openxmlformats.org/drawingml/2006/main">
              <a:ext uri="{FF2B5EF4-FFF2-40B4-BE49-F238E27FC236}">
                <a16:creationId xmlns:a16="http://schemas.microsoft.com/office/drawing/2014/main" id="{99F9AA7B-6F19-438D-BFD3-D4D58D60EF70}"/>
              </a:ext>
            </a:extLst>
          </p:cNvPr>
          <p:cNvSpPr>
            <a:spLocks xmlns:a="http://schemas.openxmlformats.org/drawingml/2006/main" noGrp="1"/>
          </p:cNvSpPr>
          <p:nvPr/>
        </p:nvSpPr>
        <p:spPr>
          <a:xfrm xmlns:a="http://schemas.openxmlformats.org/drawingml/2006/main">
            <a:off x="619125" y="1914525"/>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Arial"/>
                <a:ea typeface="Arial"/>
                <a:cs typeface="Arial"/>
              </a:defRPr>
            </a:defPPr>
          </a:lstStyle>
          <a:p xmlns:a="http://schemas.openxmlformats.org/drawingml/2006/main">
            <a:pPr algn="l">
              <a:lnSpc>
                <a:spcPct val="110000"/>
              </a:lnSpc>
              <a:buNone/>
              <a:defRPr sz="3225" b="0">
                <a:solidFill>
                  <a:srgbClr val="FFFFFF"/>
                </a:solidFill>
                <a:latin typeface="Arial"/>
                <a:ea typeface="Arial"/>
                <a:cs typeface="Arial"/>
              </a:defRPr>
            </a:pPr>
            <a:r>
              <a:rPr sz="3225" b="0">
                <a:solidFill>
                  <a:srgbClr val="FFFFFF"/>
                </a:solidFill>
                <a:latin typeface="Arial"/>
                <a:ea typeface="Arial"/>
                <a:cs typeface="Arial"/>
              </a:rPr>
              <a:t>Yield, profit and supply-aware</a:t>
            </a:r>
          </a:p>
          <a:p xmlns:a="http://schemas.openxmlformats.org/drawingml/2006/main">
            <a:pPr algn="l">
              <a:lnSpc>
                <a:spcPct val="110000"/>
              </a:lnSpc>
              <a:buNone/>
              <a:defRPr sz="3225" b="0">
                <a:solidFill>
                  <a:srgbClr val="FFFFFF"/>
                </a:solidFill>
                <a:latin typeface="Arial"/>
                <a:ea typeface="Arial"/>
                <a:cs typeface="Arial"/>
              </a:defRPr>
            </a:pPr>
            <a:r>
              <a:rPr sz="3225" b="0">
                <a:solidFill>
                  <a:srgbClr val="FFFFFF"/>
                </a:solidFill>
                <a:latin typeface="Arial"/>
                <a:ea typeface="Arial"/>
                <a:cs typeface="Arial"/>
              </a:rPr>
              <a:t>crop advisory</a:t>
            </a:r>
          </a:p>
        </p:txBody>
      </p:sp>
      <p:sp>
        <p:nvSpPr>
          <p:cNvPr id="5" name="course">
            <a:extLst xmlns:a="http://schemas.openxmlformats.org/drawingml/2006/main">
              <a:ext uri="{FF2B5EF4-FFF2-40B4-BE49-F238E27FC236}">
                <a16:creationId xmlns:a16="http://schemas.microsoft.com/office/drawing/2014/main" id="{58A9BFC4-B1CA-4CB9-83C7-037EC55CD1C7}"/>
              </a:ext>
            </a:extLst>
          </p:cNvPr>
          <p:cNvSpPr>
            <a:spLocks xmlns:a="http://schemas.openxmlformats.org/drawingml/2006/main" noGrp="1"/>
          </p:cNvSpPr>
          <p:nvPr/>
        </p:nvSpPr>
        <p:spPr>
          <a:xfrm xmlns:a="http://schemas.openxmlformats.org/drawingml/2006/main">
            <a:off x="628650" y="3343275"/>
            <a:ext cx="9906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E0ECE3"/>
                </a:solidFill>
                <a:latin typeface="Arial"/>
                <a:ea typeface="Arial"/>
                <a:cs typeface="Arial"/>
              </a:defRPr>
            </a:defPPr>
          </a:lstStyle>
          <a:p xmlns:a="http://schemas.openxmlformats.org/drawingml/2006/main">
            <a:pPr algn="l">
              <a:lnSpc>
                <a:spcPct val="110000"/>
              </a:lnSpc>
              <a:buNone/>
              <a:defRPr sz="2100" b="0">
                <a:solidFill>
                  <a:srgbClr val="E0ECE3"/>
                </a:solidFill>
                <a:latin typeface="Arial"/>
                <a:ea typeface="Arial"/>
                <a:cs typeface="Arial"/>
              </a:defRPr>
            </a:pPr>
            <a:r>
              <a:rPr sz="2100" b="0">
                <a:solidFill>
                  <a:srgbClr val="E0ECE3"/>
                </a:solidFill>
                <a:latin typeface="Arial"/>
                <a:ea typeface="Arial"/>
                <a:cs typeface="Arial"/>
              </a:rPr>
              <a:t>Data Science Programming</a:t>
            </a:r>
          </a:p>
          <a:p xmlns:a="http://schemas.openxmlformats.org/drawingml/2006/main">
            <a:pPr algn="l">
              <a:lnSpc>
                <a:spcPct val="110000"/>
              </a:lnSpc>
              <a:buNone/>
              <a:defRPr sz="2100" b="0">
                <a:solidFill>
                  <a:srgbClr val="E0ECE3"/>
                </a:solidFill>
                <a:latin typeface="Arial"/>
                <a:ea typeface="Arial"/>
                <a:cs typeface="Arial"/>
              </a:defRPr>
            </a:pPr>
            <a:r>
              <a:rPr sz="2100" b="0">
                <a:solidFill>
                  <a:srgbClr val="E0ECE3"/>
                </a:solidFill>
                <a:latin typeface="Arial"/>
                <a:ea typeface="Arial"/>
                <a:cs typeface="Arial"/>
              </a:rPr>
              <a:t>Course Project Final Review</a:t>
            </a:r>
          </a:p>
        </p:txBody>
      </p:sp>
      <p:sp>
        <p:nvSpPr>
          <p:cNvPr id="6" name="team">
            <a:extLst xmlns:a="http://schemas.openxmlformats.org/drawingml/2006/main">
              <a:ext uri="{FF2B5EF4-FFF2-40B4-BE49-F238E27FC236}">
                <a16:creationId xmlns:a16="http://schemas.microsoft.com/office/drawing/2014/main" id="{C1C32CD8-E01E-46C8-BB4C-429A1D23FF34}"/>
              </a:ext>
            </a:extLst>
          </p:cNvPr>
          <p:cNvSpPr>
            <a:spLocks xmlns:a="http://schemas.openxmlformats.org/drawingml/2006/main" noGrp="1"/>
          </p:cNvSpPr>
          <p:nvPr/>
        </p:nvSpPr>
        <p:spPr>
          <a:xfrm xmlns:a="http://schemas.openxmlformats.org/drawingml/2006/main">
            <a:off x="638175" y="4457700"/>
            <a:ext cx="6810375"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lnSpc>
                <a:spcPct val="110000"/>
              </a:lnSpc>
              <a:buNone/>
              <a:defRPr sz="1950" b="0">
                <a:solidFill>
                  <a:srgbClr val="FFFFFF"/>
                </a:solidFill>
                <a:latin typeface="Arial"/>
                <a:ea typeface="Arial"/>
                <a:cs typeface="Arial"/>
              </a:defRPr>
            </a:pPr>
            <a:r>
              <a:rPr sz="1950" b="0">
                <a:solidFill>
                  <a:srgbClr val="FFFFFF"/>
                </a:solidFill>
                <a:latin typeface="Arial"/>
                <a:ea typeface="Arial"/>
                <a:cs typeface="Arial"/>
              </a:rPr>
              <a:t>Manish H  24MID0294</a:t>
            </a:r>
          </a:p>
          <a:p xmlns:a="http://schemas.openxmlformats.org/drawingml/2006/main">
            <a:pPr algn="l">
              <a:lnSpc>
                <a:spcPct val="110000"/>
              </a:lnSpc>
              <a:buNone/>
              <a:defRPr sz="1950" b="0">
                <a:solidFill>
                  <a:srgbClr val="FFFFFF"/>
                </a:solidFill>
                <a:latin typeface="Arial"/>
                <a:ea typeface="Arial"/>
                <a:cs typeface="Arial"/>
              </a:defRPr>
            </a:pPr>
            <a:r>
              <a:rPr sz="1950" b="0">
                <a:solidFill>
                  <a:srgbClr val="FFFFFF"/>
                </a:solidFill>
                <a:latin typeface="Arial"/>
                <a:ea typeface="Arial"/>
                <a:cs typeface="Arial"/>
              </a:rPr>
              <a:t>Anshul Singh  24MID0291</a:t>
            </a:r>
          </a:p>
          <a:p xmlns:a="http://schemas.openxmlformats.org/drawingml/2006/main">
            <a:pPr algn="l">
              <a:lnSpc>
                <a:spcPct val="110000"/>
              </a:lnSpc>
              <a:buNone/>
              <a:defRPr sz="1950" b="0">
                <a:solidFill>
                  <a:srgbClr val="FFFFFF"/>
                </a:solidFill>
                <a:latin typeface="Arial"/>
                <a:ea typeface="Arial"/>
                <a:cs typeface="Arial"/>
              </a:defRPr>
            </a:pPr>
            <a:r>
              <a:rPr sz="1950" b="0">
                <a:solidFill>
                  <a:srgbClr val="FFFFFF"/>
                </a:solidFill>
                <a:latin typeface="Arial"/>
                <a:ea typeface="Arial"/>
                <a:cs typeface="Arial"/>
              </a:rPr>
              <a:t>Aryan Sinha  24MID0244</a:t>
            </a:r>
          </a:p>
        </p:txBody>
      </p:sp>
      <p:sp>
        <p:nvSpPr>
          <p:cNvPr id="7" name="faculty">
            <a:extLst xmlns:a="http://schemas.openxmlformats.org/drawingml/2006/main">
              <a:ext uri="{FF2B5EF4-FFF2-40B4-BE49-F238E27FC236}">
                <a16:creationId xmlns:a16="http://schemas.microsoft.com/office/drawing/2014/main" id="{C3231F04-06A8-4760-BA8A-75B210D3F9E0}"/>
              </a:ext>
            </a:extLst>
          </p:cNvPr>
          <p:cNvSpPr>
            <a:spLocks xmlns:a="http://schemas.openxmlformats.org/drawingml/2006/main" noGrp="1"/>
          </p:cNvSpPr>
          <p:nvPr/>
        </p:nvSpPr>
        <p:spPr>
          <a:xfrm xmlns:a="http://schemas.openxmlformats.org/drawingml/2006/main">
            <a:off x="8191500" y="45339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lnSpc>
                <a:spcPct val="110000"/>
              </a:lnSpc>
              <a:buNone/>
              <a:defRPr sz="1950" b="0">
                <a:solidFill>
                  <a:srgbClr val="FFFFFF"/>
                </a:solidFill>
                <a:latin typeface="Arial"/>
                <a:ea typeface="Arial"/>
                <a:cs typeface="Arial"/>
              </a:defRPr>
            </a:pPr>
            <a:r>
              <a:rPr sz="1950" b="0">
                <a:solidFill>
                  <a:srgbClr val="FFFFFF"/>
                </a:solidFill>
                <a:latin typeface="Arial"/>
                <a:ea typeface="Arial"/>
                <a:cs typeface="Arial"/>
              </a:rPr>
              <a:t>Batch 22</a:t>
            </a:r>
          </a:p>
          <a:p xmlns:a="http://schemas.openxmlformats.org/drawingml/2006/main">
            <a:pPr algn="l">
              <a:lnSpc>
                <a:spcPct val="110000"/>
              </a:lnSpc>
              <a:buNone/>
              <a:defRPr sz="1950" b="0">
                <a:solidFill>
                  <a:srgbClr val="FFFFFF"/>
                </a:solidFill>
                <a:latin typeface="Arial"/>
                <a:ea typeface="Arial"/>
                <a:cs typeface="Arial"/>
              </a:defRPr>
            </a:pPr>
            <a:r>
              <a:rPr sz="1950" b="0">
                <a:solidFill>
                  <a:srgbClr val="FFFFFF"/>
                </a:solidFill>
                <a:latin typeface="Arial"/>
                <a:ea typeface="Arial"/>
                <a:cs typeface="Arial"/>
              </a:rPr>
              <a:t>Faculty: Padma Priya M</a:t>
            </a:r>
          </a:p>
        </p:txBody>
      </p:sp>
      <p:sp>
        <p:nvSpPr>
          <p:cNvPr id="8" name="cover-scope">
            <a:extLst xmlns:a="http://schemas.openxmlformats.org/drawingml/2006/main">
              <a:ext uri="{FF2B5EF4-FFF2-40B4-BE49-F238E27FC236}">
                <a16:creationId xmlns:a16="http://schemas.microsoft.com/office/drawing/2014/main" id="{7CDE6412-557D-4C37-9D8B-0CFC432D5ED4}"/>
              </a:ext>
            </a:extLst>
          </p:cNvPr>
          <p:cNvSpPr>
            <a:spLocks xmlns:a="http://schemas.openxmlformats.org/drawingml/2006/main" noGrp="1"/>
          </p:cNvSpPr>
          <p:nvPr/>
        </p:nvSpPr>
        <p:spPr>
          <a:xfrm xmlns:a="http://schemas.openxmlformats.org/drawingml/2006/main">
            <a:off x="638175" y="60769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0F3E6"/>
                </a:solidFill>
                <a:latin typeface="Arial"/>
                <a:ea typeface="Arial"/>
                <a:cs typeface="Arial"/>
              </a:defRPr>
            </a:defPPr>
          </a:lstStyle>
          <a:p xmlns:a="http://schemas.openxmlformats.org/drawingml/2006/main">
            <a:pPr algn="l">
              <a:lnSpc>
                <a:spcPct val="110000"/>
              </a:lnSpc>
              <a:buNone/>
              <a:defRPr sz="1800" b="0">
                <a:solidFill>
                  <a:srgbClr val="F0F3E6"/>
                </a:solidFill>
                <a:latin typeface="Arial"/>
                <a:ea typeface="Arial"/>
                <a:cs typeface="Arial"/>
              </a:defRPr>
            </a:pPr>
            <a:r>
              <a:rPr sz="1800" b="0">
                <a:solidFill>
                  <a:srgbClr val="F0F3E6"/>
                </a:solidFill>
                <a:latin typeface="Arial"/>
                <a:ea typeface="Arial"/>
                <a:cs typeface="Arial"/>
              </a:rPr>
              <a:t>Regional crop advisory prototype</a:t>
            </a:r>
          </a:p>
        </p:txBody>
      </p:sp>
    </p:spTree>
    <p:extLst>
      <p:ext uri="{BB962C8B-B14F-4D97-AF65-F5344CB8AC3E}">
        <p14:creationId xmlns:p14="http://schemas.microsoft.com/office/powerpoint/2010/main" val="8381242"/>
      </p:ext>
    </p:extLst>
  </p:cSld>
</p:sld>
</file>

<file path=ppt/slides/slide2.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1B440AF8-E70C-4509-9696-A0094B0D03BF}"/>
              </a:ext>
            </a:extLst>
          </p:cNvPr>
          <p:cNvCxnSpPr>
            <a:stCxn xmlns:a="http://schemas.openxmlformats.org/drawingml/2006/main" id="11" idx="3"/>
            <a:endCxn xmlns:a="http://schemas.openxmlformats.org/drawingml/2006/main" id="14" idx="1"/>
          </p:cNvCxnSpPr>
          <p:nvPr/>
        </p:nvCxnSpPr>
        <p:spPr>
          <a:xfrm xmlns:a="http://schemas.openxmlformats.org/drawingml/2006/main">
            <a:off x="8743950" y="3757613"/>
            <a:ext cx="419100"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75A0FB07-4A09-4A59-9AB3-95726CEA096E}"/>
              </a:ext>
            </a:extLst>
          </p:cNvPr>
          <p:cNvCxnSpPr>
            <a:stCxn xmlns:a="http://schemas.openxmlformats.org/drawingml/2006/main" id="8" idx="3"/>
            <a:endCxn xmlns:a="http://schemas.openxmlformats.org/drawingml/2006/main" id="11" idx="1"/>
          </p:cNvCxnSpPr>
          <p:nvPr/>
        </p:nvCxnSpPr>
        <p:spPr>
          <a:xfrm xmlns:a="http://schemas.openxmlformats.org/drawingml/2006/main">
            <a:off x="5886450" y="3757613"/>
            <a:ext cx="419100"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A5721667-D951-4469-96C8-E7B5706358AF}"/>
              </a:ext>
            </a:extLst>
          </p:cNvPr>
          <p:cNvCxnSpPr>
            <a:stCxn xmlns:a="http://schemas.openxmlformats.org/drawingml/2006/main" id="5" idx="3"/>
            <a:endCxn xmlns:a="http://schemas.openxmlformats.org/drawingml/2006/main" id="8" idx="1"/>
          </p:cNvCxnSpPr>
          <p:nvPr/>
        </p:nvCxnSpPr>
        <p:spPr>
          <a:xfrm xmlns:a="http://schemas.openxmlformats.org/drawingml/2006/main">
            <a:off x="3028950" y="3757613"/>
            <a:ext cx="419100"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sp>
        <p:nvSpPr>
          <p:cNvPr id="22" name="title-2">
            <a:extLst xmlns:a="http://schemas.openxmlformats.org/drawingml/2006/main">
              <a:ext uri="{FF2B5EF4-FFF2-40B4-BE49-F238E27FC236}">
                <a16:creationId xmlns:a16="http://schemas.microsoft.com/office/drawing/2014/main" id="{9242105F-60C7-4623-8E33-6FFDE765D3BE}"/>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Crop choice and market oversupply</a:t>
            </a:r>
          </a:p>
        </p:txBody>
      </p:sp>
      <p:sp>
        <p:nvSpPr>
          <p:cNvPr id="2" name="subtitle-2">
            <a:extLst xmlns:a="http://schemas.openxmlformats.org/drawingml/2006/main">
              <a:ext uri="{FF2B5EF4-FFF2-40B4-BE49-F238E27FC236}">
                <a16:creationId xmlns:a16="http://schemas.microsoft.com/office/drawing/2014/main" id="{9801BE4A-6413-4E36-A0ED-84D708FDFC93}"/>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Intended users: farmers and regional agricultural advisers</a:t>
            </a:r>
          </a:p>
        </p:txBody>
      </p:sp>
      <p:sp>
        <p:nvSpPr>
          <p:cNvPr id="3" name="page-2">
            <a:extLst xmlns:a="http://schemas.openxmlformats.org/drawingml/2006/main">
              <a:ext uri="{FF2B5EF4-FFF2-40B4-BE49-F238E27FC236}">
                <a16:creationId xmlns:a16="http://schemas.microsoft.com/office/drawing/2014/main" id="{7B20B89C-AC0B-4A16-9BBD-15B57C89F9AA}"/>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02</a:t>
            </a:r>
          </a:p>
        </p:txBody>
      </p:sp>
      <p:sp>
        <p:nvSpPr>
          <p:cNvPr id="4" name="problem-lead">
            <a:extLst xmlns:a="http://schemas.openxmlformats.org/drawingml/2006/main">
              <a:ext uri="{FF2B5EF4-FFF2-40B4-BE49-F238E27FC236}">
                <a16:creationId xmlns:a16="http://schemas.microsoft.com/office/drawing/2014/main" id="{466CB33D-BD8E-4D3E-AB61-4312405DC850}"/>
              </a:ext>
            </a:extLst>
          </p:cNvPr>
          <p:cNvSpPr>
            <a:spLocks xmlns:a="http://schemas.openxmlformats.org/drawingml/2006/main" noGrp="1"/>
          </p:cNvSpPr>
          <p:nvPr/>
        </p:nvSpPr>
        <p:spPr>
          <a:xfrm xmlns:a="http://schemas.openxmlformats.org/drawingml/2006/main">
            <a:off x="590550" y="1819275"/>
            <a:ext cx="1085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A32"/>
                </a:solidFill>
                <a:latin typeface="Arial"/>
                <a:ea typeface="Arial"/>
                <a:cs typeface="Arial"/>
              </a:defRPr>
            </a:defPPr>
          </a:lstStyle>
          <a:p xmlns:a="http://schemas.openxmlformats.org/drawingml/2006/main">
            <a:pPr algn="l">
              <a:lnSpc>
                <a:spcPct val="110000"/>
              </a:lnSpc>
              <a:buNone/>
              <a:defRPr sz="2700" b="1">
                <a:solidFill>
                  <a:srgbClr val="173A32"/>
                </a:solidFill>
                <a:latin typeface="Arial"/>
                <a:ea typeface="Arial"/>
                <a:cs typeface="Arial"/>
              </a:defRPr>
            </a:pPr>
            <a:r>
              <a:rPr sz="2700" b="1">
                <a:solidFill>
                  <a:srgbClr val="173A32"/>
                </a:solidFill>
                <a:latin typeface="Arial"/>
                <a:ea typeface="Arial"/>
                <a:cs typeface="Arial"/>
              </a:rPr>
              <a:t>A crop can look profitable before planting,</a:t>
            </a:r>
          </a:p>
          <a:p xmlns:a="http://schemas.openxmlformats.org/drawingml/2006/main">
            <a:pPr algn="l">
              <a:lnSpc>
                <a:spcPct val="110000"/>
              </a:lnSpc>
              <a:buNone/>
              <a:defRPr sz="2700" b="1">
                <a:solidFill>
                  <a:srgbClr val="173A32"/>
                </a:solidFill>
                <a:latin typeface="Arial"/>
                <a:ea typeface="Arial"/>
                <a:cs typeface="Arial"/>
              </a:defRPr>
            </a:pPr>
            <a:r>
              <a:rPr sz="2700" b="1">
                <a:solidFill>
                  <a:srgbClr val="173A32"/>
                </a:solidFill>
                <a:latin typeface="Arial"/>
                <a:ea typeface="Arial"/>
                <a:cs typeface="Arial"/>
              </a:rPr>
              <a:t>then lose value when many farmers choose it.</a:t>
            </a:r>
          </a:p>
        </p:txBody>
      </p:sp>
      <p:sp>
        <p:nvSpPr>
          <p:cNvPr id="5" name="problem-0">
            <a:extLst xmlns:a="http://schemas.openxmlformats.org/drawingml/2006/main">
              <a:ext uri="{FF2B5EF4-FFF2-40B4-BE49-F238E27FC236}">
                <a16:creationId xmlns:a16="http://schemas.microsoft.com/office/drawing/2014/main" id="{9721400B-B863-4BBC-91D2-7B2E2817FB18}"/>
              </a:ext>
            </a:extLst>
          </p:cNvPr>
          <p:cNvSpPr>
            <a:spLocks xmlns:a="http://schemas.openxmlformats.org/drawingml/2006/main" noGrp="1"/>
          </p:cNvSpPr>
          <p:nvPr/>
        </p:nvSpPr>
        <p:spPr>
          <a:xfrm xmlns:a="http://schemas.openxmlformats.org/drawingml/2006/main">
            <a:off x="590550" y="3209925"/>
            <a:ext cx="2438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6" name="problem-0-title">
            <a:extLst xmlns:a="http://schemas.openxmlformats.org/drawingml/2006/main">
              <a:ext uri="{FF2B5EF4-FFF2-40B4-BE49-F238E27FC236}">
                <a16:creationId xmlns:a16="http://schemas.microsoft.com/office/drawing/2014/main" id="{12696CF0-F86A-4B8F-827B-FB3BF9C8796C}"/>
              </a:ext>
            </a:extLst>
          </p:cNvPr>
          <p:cNvSpPr>
            <a:spLocks xmlns:a="http://schemas.openxmlformats.org/drawingml/2006/main" noGrp="1"/>
          </p:cNvSpPr>
          <p:nvPr/>
        </p:nvSpPr>
        <p:spPr>
          <a:xfrm xmlns:a="http://schemas.openxmlformats.org/drawingml/2006/main">
            <a:off x="733425" y="33528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Same advice</a:t>
            </a:r>
          </a:p>
        </p:txBody>
      </p:sp>
      <p:sp>
        <p:nvSpPr>
          <p:cNvPr id="7" name="problem-0-sub">
            <a:extLst xmlns:a="http://schemas.openxmlformats.org/drawingml/2006/main">
              <a:ext uri="{FF2B5EF4-FFF2-40B4-BE49-F238E27FC236}">
                <a16:creationId xmlns:a16="http://schemas.microsoft.com/office/drawing/2014/main" id="{2D20672E-6A81-42BD-9212-2520157C17E5}"/>
              </a:ext>
            </a:extLst>
          </p:cNvPr>
          <p:cNvSpPr>
            <a:spLocks xmlns:a="http://schemas.openxmlformats.org/drawingml/2006/main" noGrp="1"/>
          </p:cNvSpPr>
          <p:nvPr/>
        </p:nvSpPr>
        <p:spPr>
          <a:xfrm xmlns:a="http://schemas.openxmlformats.org/drawingml/2006/main">
            <a:off x="733425" y="3762375"/>
            <a:ext cx="2152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Many farmers</a:t>
            </a:r>
          </a:p>
        </p:txBody>
      </p:sp>
      <p:sp>
        <p:nvSpPr>
          <p:cNvPr id="8" name="problem-1">
            <a:extLst xmlns:a="http://schemas.openxmlformats.org/drawingml/2006/main">
              <a:ext uri="{FF2B5EF4-FFF2-40B4-BE49-F238E27FC236}">
                <a16:creationId xmlns:a16="http://schemas.microsoft.com/office/drawing/2014/main" id="{2D1D6689-C9FD-4DC0-9340-F7516090CDB0}"/>
              </a:ext>
            </a:extLst>
          </p:cNvPr>
          <p:cNvSpPr>
            <a:spLocks xmlns:a="http://schemas.openxmlformats.org/drawingml/2006/main" noGrp="1"/>
          </p:cNvSpPr>
          <p:nvPr/>
        </p:nvSpPr>
        <p:spPr>
          <a:xfrm xmlns:a="http://schemas.openxmlformats.org/drawingml/2006/main">
            <a:off x="3448050" y="3209925"/>
            <a:ext cx="2438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9" name="problem-1-title">
            <a:extLst xmlns:a="http://schemas.openxmlformats.org/drawingml/2006/main">
              <a:ext uri="{FF2B5EF4-FFF2-40B4-BE49-F238E27FC236}">
                <a16:creationId xmlns:a16="http://schemas.microsoft.com/office/drawing/2014/main" id="{B224B348-5566-4C09-91BC-F02A17309B14}"/>
              </a:ext>
            </a:extLst>
          </p:cNvPr>
          <p:cNvSpPr>
            <a:spLocks xmlns:a="http://schemas.openxmlformats.org/drawingml/2006/main" noGrp="1"/>
          </p:cNvSpPr>
          <p:nvPr/>
        </p:nvSpPr>
        <p:spPr>
          <a:xfrm xmlns:a="http://schemas.openxmlformats.org/drawingml/2006/main">
            <a:off x="3590925" y="33528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More acreage</a:t>
            </a:r>
          </a:p>
        </p:txBody>
      </p:sp>
      <p:sp>
        <p:nvSpPr>
          <p:cNvPr id="10" name="problem-1-sub">
            <a:extLst xmlns:a="http://schemas.openxmlformats.org/drawingml/2006/main">
              <a:ext uri="{FF2B5EF4-FFF2-40B4-BE49-F238E27FC236}">
                <a16:creationId xmlns:a16="http://schemas.microsoft.com/office/drawing/2014/main" id="{64763503-F457-4F95-BC6A-EA8FB2EB1508}"/>
              </a:ext>
            </a:extLst>
          </p:cNvPr>
          <p:cNvSpPr>
            <a:spLocks xmlns:a="http://schemas.openxmlformats.org/drawingml/2006/main" noGrp="1"/>
          </p:cNvSpPr>
          <p:nvPr/>
        </p:nvSpPr>
        <p:spPr>
          <a:xfrm xmlns:a="http://schemas.openxmlformats.org/drawingml/2006/main">
            <a:off x="3590925" y="3762375"/>
            <a:ext cx="2152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Same crop</a:t>
            </a:r>
          </a:p>
        </p:txBody>
      </p:sp>
      <p:sp>
        <p:nvSpPr>
          <p:cNvPr id="11" name="problem-2">
            <a:extLst xmlns:a="http://schemas.openxmlformats.org/drawingml/2006/main">
              <a:ext uri="{FF2B5EF4-FFF2-40B4-BE49-F238E27FC236}">
                <a16:creationId xmlns:a16="http://schemas.microsoft.com/office/drawing/2014/main" id="{02985618-2A1F-4AB3-BB4E-493D01D6E46D}"/>
              </a:ext>
            </a:extLst>
          </p:cNvPr>
          <p:cNvSpPr>
            <a:spLocks xmlns:a="http://schemas.openxmlformats.org/drawingml/2006/main" noGrp="1"/>
          </p:cNvSpPr>
          <p:nvPr/>
        </p:nvSpPr>
        <p:spPr>
          <a:xfrm xmlns:a="http://schemas.openxmlformats.org/drawingml/2006/main">
            <a:off x="6305550" y="3209925"/>
            <a:ext cx="2438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2" name="problem-2-title">
            <a:extLst xmlns:a="http://schemas.openxmlformats.org/drawingml/2006/main">
              <a:ext uri="{FF2B5EF4-FFF2-40B4-BE49-F238E27FC236}">
                <a16:creationId xmlns:a16="http://schemas.microsoft.com/office/drawing/2014/main" id="{4733591C-0DF0-422A-9BFA-7735399F514C}"/>
              </a:ext>
            </a:extLst>
          </p:cNvPr>
          <p:cNvSpPr>
            <a:spLocks xmlns:a="http://schemas.openxmlformats.org/drawingml/2006/main" noGrp="1"/>
          </p:cNvSpPr>
          <p:nvPr/>
        </p:nvSpPr>
        <p:spPr>
          <a:xfrm xmlns:a="http://schemas.openxmlformats.org/drawingml/2006/main">
            <a:off x="6448425" y="33528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More supply</a:t>
            </a:r>
          </a:p>
        </p:txBody>
      </p:sp>
      <p:sp>
        <p:nvSpPr>
          <p:cNvPr id="13" name="problem-2-sub">
            <a:extLst xmlns:a="http://schemas.openxmlformats.org/drawingml/2006/main">
              <a:ext uri="{FF2B5EF4-FFF2-40B4-BE49-F238E27FC236}">
                <a16:creationId xmlns:a16="http://schemas.microsoft.com/office/drawing/2014/main" id="{BB48A678-EA7F-491B-A044-DE8CB72F3F18}"/>
              </a:ext>
            </a:extLst>
          </p:cNvPr>
          <p:cNvSpPr>
            <a:spLocks xmlns:a="http://schemas.openxmlformats.org/drawingml/2006/main" noGrp="1"/>
          </p:cNvSpPr>
          <p:nvPr/>
        </p:nvSpPr>
        <p:spPr>
          <a:xfrm xmlns:a="http://schemas.openxmlformats.org/drawingml/2006/main">
            <a:off x="6448425" y="3762375"/>
            <a:ext cx="2152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At harvest</a:t>
            </a:r>
          </a:p>
        </p:txBody>
      </p:sp>
      <p:sp>
        <p:nvSpPr>
          <p:cNvPr id="14" name="problem-3">
            <a:extLst xmlns:a="http://schemas.openxmlformats.org/drawingml/2006/main">
              <a:ext uri="{FF2B5EF4-FFF2-40B4-BE49-F238E27FC236}">
                <a16:creationId xmlns:a16="http://schemas.microsoft.com/office/drawing/2014/main" id="{62F447DB-CB77-4DAE-9FC2-CCC0C4FF0F4C}"/>
              </a:ext>
            </a:extLst>
          </p:cNvPr>
          <p:cNvSpPr>
            <a:spLocks xmlns:a="http://schemas.openxmlformats.org/drawingml/2006/main" noGrp="1"/>
          </p:cNvSpPr>
          <p:nvPr/>
        </p:nvSpPr>
        <p:spPr>
          <a:xfrm xmlns:a="http://schemas.openxmlformats.org/drawingml/2006/main">
            <a:off x="9163050" y="3209925"/>
            <a:ext cx="2438400" cy="1095375"/>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5" name="problem-3-title">
            <a:extLst xmlns:a="http://schemas.openxmlformats.org/drawingml/2006/main">
              <a:ext uri="{FF2B5EF4-FFF2-40B4-BE49-F238E27FC236}">
                <a16:creationId xmlns:a16="http://schemas.microsoft.com/office/drawing/2014/main" id="{1D1A504B-23C8-4D92-8F3E-CC581B544472}"/>
              </a:ext>
            </a:extLst>
          </p:cNvPr>
          <p:cNvSpPr>
            <a:spLocks xmlns:a="http://schemas.openxmlformats.org/drawingml/2006/main" noGrp="1"/>
          </p:cNvSpPr>
          <p:nvPr/>
        </p:nvSpPr>
        <p:spPr>
          <a:xfrm xmlns:a="http://schemas.openxmlformats.org/drawingml/2006/main">
            <a:off x="9305925" y="33528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Lower price</a:t>
            </a:r>
          </a:p>
        </p:txBody>
      </p:sp>
      <p:sp>
        <p:nvSpPr>
          <p:cNvPr id="16" name="problem-3-sub">
            <a:extLst xmlns:a="http://schemas.openxmlformats.org/drawingml/2006/main">
              <a:ext uri="{FF2B5EF4-FFF2-40B4-BE49-F238E27FC236}">
                <a16:creationId xmlns:a16="http://schemas.microsoft.com/office/drawing/2014/main" id="{B9FD886D-0D9E-4C33-8D3D-2E0509F09B25}"/>
              </a:ext>
            </a:extLst>
          </p:cNvPr>
          <p:cNvSpPr>
            <a:spLocks xmlns:a="http://schemas.openxmlformats.org/drawingml/2006/main" noGrp="1"/>
          </p:cNvSpPr>
          <p:nvPr/>
        </p:nvSpPr>
        <p:spPr>
          <a:xfrm xmlns:a="http://schemas.openxmlformats.org/drawingml/2006/main">
            <a:off x="9305925" y="3762375"/>
            <a:ext cx="2152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Selling market</a:t>
            </a:r>
          </a:p>
        </p:txBody>
      </p:sp>
      <p:sp>
        <p:nvSpPr>
          <p:cNvPr id="20" name="price-yield">
            <a:extLst xmlns:a="http://schemas.openxmlformats.org/drawingml/2006/main">
              <a:ext uri="{FF2B5EF4-FFF2-40B4-BE49-F238E27FC236}">
                <a16:creationId xmlns:a16="http://schemas.microsoft.com/office/drawing/2014/main" id="{E797F64D-A4AA-4AD3-BB3C-20E39F9BD9B6}"/>
              </a:ext>
            </a:extLst>
          </p:cNvPr>
          <p:cNvSpPr>
            <a:spLocks xmlns:a="http://schemas.openxmlformats.org/drawingml/2006/main" noGrp="1"/>
          </p:cNvSpPr>
          <p:nvPr/>
        </p:nvSpPr>
        <p:spPr>
          <a:xfrm xmlns:a="http://schemas.openxmlformats.org/drawingml/2006/main">
            <a:off x="590550" y="479107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B775C"/>
                </a:solidFill>
                <a:latin typeface="Arial"/>
                <a:ea typeface="Arial"/>
                <a:cs typeface="Arial"/>
              </a:defRPr>
            </a:defPPr>
          </a:lstStyle>
          <a:p xmlns:a="http://schemas.openxmlformats.org/drawingml/2006/main">
            <a:pPr algn="l">
              <a:lnSpc>
                <a:spcPct val="110000"/>
              </a:lnSpc>
              <a:buNone/>
              <a:defRPr sz="2325" b="1">
                <a:solidFill>
                  <a:srgbClr val="2B775C"/>
                </a:solidFill>
                <a:latin typeface="Arial"/>
                <a:ea typeface="Arial"/>
                <a:cs typeface="Arial"/>
              </a:defRPr>
            </a:pPr>
            <a:r>
              <a:rPr sz="2325" b="1">
                <a:solidFill>
                  <a:srgbClr val="2B775C"/>
                </a:solidFill>
                <a:latin typeface="Arial"/>
                <a:ea typeface="Arial"/>
                <a:cs typeface="Arial"/>
              </a:rPr>
              <a:t>Yield is output per hectare. Oversupply primarily affects the selling price.</a:t>
            </a:r>
          </a:p>
        </p:txBody>
      </p:sp>
      <p:sp>
        <p:nvSpPr>
          <p:cNvPr id="21" name="footnote-2">
            <a:extLst xmlns:a="http://schemas.openxmlformats.org/drawingml/2006/main">
              <a:ext uri="{FF2B5EF4-FFF2-40B4-BE49-F238E27FC236}">
                <a16:creationId xmlns:a16="http://schemas.microsoft.com/office/drawing/2014/main" id="{6D20DDC7-9DB7-492B-9DD3-8E9744E89CA2}"/>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Project question: can crop advice account for both uncertainty and planting commitments?</a:t>
            </a:r>
          </a:p>
        </p:txBody>
      </p:sp>
    </p:spTree>
    <p:extLst>
      <p:ext uri="{BB962C8B-B14F-4D97-AF65-F5344CB8AC3E}">
        <p14:creationId xmlns:p14="http://schemas.microsoft.com/office/powerpoint/2010/main" val="1455767249"/>
      </p:ext>
    </p:extLst>
  </p:cSld>
</p:sld>
</file>

<file path=ppt/slides/slide3.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7" name="title-3">
            <a:extLst xmlns:a="http://schemas.openxmlformats.org/drawingml/2006/main">
              <a:ext uri="{FF2B5EF4-FFF2-40B4-BE49-F238E27FC236}">
                <a16:creationId xmlns:a16="http://schemas.microsoft.com/office/drawing/2014/main" id="{22724009-23C4-404F-8FC7-18BD3CCF8A31}"/>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Objectives and scope</a:t>
            </a:r>
          </a:p>
        </p:txBody>
      </p:sp>
      <p:sp>
        <p:nvSpPr>
          <p:cNvPr id="2" name="subtitle-3">
            <a:extLst xmlns:a="http://schemas.openxmlformats.org/drawingml/2006/main">
              <a:ext uri="{FF2B5EF4-FFF2-40B4-BE49-F238E27FC236}">
                <a16:creationId xmlns:a16="http://schemas.microsoft.com/office/drawing/2014/main" id="{3E0FA4B3-FC99-4120-A6F7-0131A35C2DCF}"/>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Five-state historical data with a bounded regional feedback demonstration</a:t>
            </a:r>
          </a:p>
        </p:txBody>
      </p:sp>
      <p:sp>
        <p:nvSpPr>
          <p:cNvPr id="3" name="page-3">
            <a:extLst xmlns:a="http://schemas.openxmlformats.org/drawingml/2006/main">
              <a:ext uri="{FF2B5EF4-FFF2-40B4-BE49-F238E27FC236}">
                <a16:creationId xmlns:a16="http://schemas.microsoft.com/office/drawing/2014/main" id="{AF28C3F7-C9C3-4835-A613-9AE61E62AC12}"/>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03</a:t>
            </a:r>
          </a:p>
        </p:txBody>
      </p:sp>
      <p:sp>
        <p:nvSpPr>
          <p:cNvPr id="4" name="objective-n-0">
            <a:extLst xmlns:a="http://schemas.openxmlformats.org/drawingml/2006/main">
              <a:ext uri="{FF2B5EF4-FFF2-40B4-BE49-F238E27FC236}">
                <a16:creationId xmlns:a16="http://schemas.microsoft.com/office/drawing/2014/main" id="{626A638B-6A75-45C9-ABEE-2FED37ADD677}"/>
              </a:ext>
            </a:extLst>
          </p:cNvPr>
          <p:cNvSpPr>
            <a:spLocks xmlns:a="http://schemas.openxmlformats.org/drawingml/2006/main" noGrp="1"/>
          </p:cNvSpPr>
          <p:nvPr/>
        </p:nvSpPr>
        <p:spPr>
          <a:xfrm xmlns:a="http://schemas.openxmlformats.org/drawingml/2006/main">
            <a:off x="600075" y="1762125"/>
            <a:ext cx="6381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2B775C"/>
                </a:solidFill>
                <a:latin typeface="Arial"/>
                <a:ea typeface="Arial"/>
                <a:cs typeface="Arial"/>
              </a:defRPr>
            </a:defPPr>
          </a:lstStyle>
          <a:p xmlns:a="http://schemas.openxmlformats.org/drawingml/2006/main">
            <a:pPr algn="l">
              <a:lnSpc>
                <a:spcPct val="110000"/>
              </a:lnSpc>
              <a:buNone/>
              <a:defRPr sz="3075" b="1">
                <a:solidFill>
                  <a:srgbClr val="2B775C"/>
                </a:solidFill>
                <a:latin typeface="Arial"/>
                <a:ea typeface="Arial"/>
                <a:cs typeface="Arial"/>
              </a:defRPr>
            </a:pPr>
            <a:r>
              <a:rPr sz="3075" b="1">
                <a:solidFill>
                  <a:srgbClr val="2B775C"/>
                </a:solidFill>
                <a:latin typeface="Arial"/>
                <a:ea typeface="Arial"/>
                <a:cs typeface="Arial"/>
              </a:rPr>
              <a:t>01</a:t>
            </a:r>
          </a:p>
        </p:txBody>
      </p:sp>
      <p:sp>
        <p:nvSpPr>
          <p:cNvPr id="5" name="objective-h-0">
            <a:extLst xmlns:a="http://schemas.openxmlformats.org/drawingml/2006/main">
              <a:ext uri="{FF2B5EF4-FFF2-40B4-BE49-F238E27FC236}">
                <a16:creationId xmlns:a16="http://schemas.microsoft.com/office/drawing/2014/main" id="{CA2C89AF-DCFE-463C-86BF-50E80C540794}"/>
              </a:ext>
            </a:extLst>
          </p:cNvPr>
          <p:cNvSpPr>
            <a:spLocks xmlns:a="http://schemas.openxmlformats.org/drawingml/2006/main" noGrp="1"/>
          </p:cNvSpPr>
          <p:nvPr/>
        </p:nvSpPr>
        <p:spPr>
          <a:xfrm xmlns:a="http://schemas.openxmlformats.org/drawingml/2006/main">
            <a:off x="1466850" y="1762125"/>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Forecast yield uncertainty</a:t>
            </a:r>
          </a:p>
        </p:txBody>
      </p:sp>
      <p:sp>
        <p:nvSpPr>
          <p:cNvPr id="6" name="objective-b-0">
            <a:extLst xmlns:a="http://schemas.openxmlformats.org/drawingml/2006/main">
              <a:ext uri="{FF2B5EF4-FFF2-40B4-BE49-F238E27FC236}">
                <a16:creationId xmlns:a16="http://schemas.microsoft.com/office/drawing/2014/main" id="{2CD5188D-0797-44B0-9538-3319F3C72F29}"/>
              </a:ext>
            </a:extLst>
          </p:cNvPr>
          <p:cNvSpPr>
            <a:spLocks xmlns:a="http://schemas.openxmlformats.org/drawingml/2006/main" noGrp="1"/>
          </p:cNvSpPr>
          <p:nvPr/>
        </p:nvSpPr>
        <p:spPr>
          <a:xfrm xmlns:a="http://schemas.openxmlformats.org/drawingml/2006/main">
            <a:off x="1466850" y="22002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55D"/>
                </a:solidFill>
                <a:latin typeface="Arial"/>
                <a:ea typeface="Arial"/>
                <a:cs typeface="Arial"/>
              </a:defRPr>
            </a:defPPr>
          </a:lstStyle>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Report lower, median and upper yield estimates.</a:t>
            </a:r>
          </a:p>
        </p:txBody>
      </p:sp>
      <p:sp>
        <p:nvSpPr>
          <p:cNvPr id="7" name="objective-n-1">
            <a:extLst xmlns:a="http://schemas.openxmlformats.org/drawingml/2006/main">
              <a:ext uri="{FF2B5EF4-FFF2-40B4-BE49-F238E27FC236}">
                <a16:creationId xmlns:a16="http://schemas.microsoft.com/office/drawing/2014/main" id="{4CD5AB41-3B6C-4CBC-B814-05F588DA6C07}"/>
              </a:ext>
            </a:extLst>
          </p:cNvPr>
          <p:cNvSpPr>
            <a:spLocks xmlns:a="http://schemas.openxmlformats.org/drawingml/2006/main" noGrp="1"/>
          </p:cNvSpPr>
          <p:nvPr/>
        </p:nvSpPr>
        <p:spPr>
          <a:xfrm xmlns:a="http://schemas.openxmlformats.org/drawingml/2006/main">
            <a:off x="600075" y="2724150"/>
            <a:ext cx="6381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2B775C"/>
                </a:solidFill>
                <a:latin typeface="Arial"/>
                <a:ea typeface="Arial"/>
                <a:cs typeface="Arial"/>
              </a:defRPr>
            </a:defPPr>
          </a:lstStyle>
          <a:p xmlns:a="http://schemas.openxmlformats.org/drawingml/2006/main">
            <a:pPr algn="l">
              <a:lnSpc>
                <a:spcPct val="110000"/>
              </a:lnSpc>
              <a:buNone/>
              <a:defRPr sz="3075" b="1">
                <a:solidFill>
                  <a:srgbClr val="2B775C"/>
                </a:solidFill>
                <a:latin typeface="Arial"/>
                <a:ea typeface="Arial"/>
                <a:cs typeface="Arial"/>
              </a:defRPr>
            </a:pPr>
            <a:r>
              <a:rPr sz="3075" b="1">
                <a:solidFill>
                  <a:srgbClr val="2B775C"/>
                </a:solidFill>
                <a:latin typeface="Arial"/>
                <a:ea typeface="Arial"/>
                <a:cs typeface="Arial"/>
              </a:rPr>
              <a:t>02</a:t>
            </a:r>
          </a:p>
        </p:txBody>
      </p:sp>
      <p:sp>
        <p:nvSpPr>
          <p:cNvPr id="8" name="objective-h-1">
            <a:extLst xmlns:a="http://schemas.openxmlformats.org/drawingml/2006/main">
              <a:ext uri="{FF2B5EF4-FFF2-40B4-BE49-F238E27FC236}">
                <a16:creationId xmlns:a16="http://schemas.microsoft.com/office/drawing/2014/main" id="{A5AB3943-9920-4B76-AEAF-2AA391943858}"/>
              </a:ext>
            </a:extLst>
          </p:cNvPr>
          <p:cNvSpPr>
            <a:spLocks xmlns:a="http://schemas.openxmlformats.org/drawingml/2006/main" noGrp="1"/>
          </p:cNvSpPr>
          <p:nvPr/>
        </p:nvSpPr>
        <p:spPr>
          <a:xfrm xmlns:a="http://schemas.openxmlformats.org/drawingml/2006/main">
            <a:off x="1466850" y="2724150"/>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Explain financial scenarios</a:t>
            </a:r>
          </a:p>
        </p:txBody>
      </p:sp>
      <p:sp>
        <p:nvSpPr>
          <p:cNvPr id="9" name="objective-b-1">
            <a:extLst xmlns:a="http://schemas.openxmlformats.org/drawingml/2006/main">
              <a:ext uri="{FF2B5EF4-FFF2-40B4-BE49-F238E27FC236}">
                <a16:creationId xmlns:a16="http://schemas.microsoft.com/office/drawing/2014/main" id="{85901086-2C88-4216-92DE-5AEA61C39D96}"/>
              </a:ext>
            </a:extLst>
          </p:cNvPr>
          <p:cNvSpPr>
            <a:spLocks xmlns:a="http://schemas.openxmlformats.org/drawingml/2006/main" noGrp="1"/>
          </p:cNvSpPr>
          <p:nvPr/>
        </p:nvSpPr>
        <p:spPr>
          <a:xfrm xmlns:a="http://schemas.openxmlformats.org/drawingml/2006/main">
            <a:off x="1466850" y="31623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55D"/>
                </a:solidFill>
                <a:latin typeface="Arial"/>
                <a:ea typeface="Arial"/>
                <a:cs typeface="Arial"/>
              </a:defRPr>
            </a:defPPr>
          </a:lstStyle>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Show costs, price assumptions and downside scenarios.</a:t>
            </a:r>
          </a:p>
        </p:txBody>
      </p:sp>
      <p:sp>
        <p:nvSpPr>
          <p:cNvPr id="10" name="objective-n-2">
            <a:extLst xmlns:a="http://schemas.openxmlformats.org/drawingml/2006/main">
              <a:ext uri="{FF2B5EF4-FFF2-40B4-BE49-F238E27FC236}">
                <a16:creationId xmlns:a16="http://schemas.microsoft.com/office/drawing/2014/main" id="{FC64338F-D3A0-4D76-AD5F-315AECCC3BC8}"/>
              </a:ext>
            </a:extLst>
          </p:cNvPr>
          <p:cNvSpPr>
            <a:spLocks xmlns:a="http://schemas.openxmlformats.org/drawingml/2006/main" noGrp="1"/>
          </p:cNvSpPr>
          <p:nvPr/>
        </p:nvSpPr>
        <p:spPr>
          <a:xfrm xmlns:a="http://schemas.openxmlformats.org/drawingml/2006/main">
            <a:off x="600075" y="3686175"/>
            <a:ext cx="6381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2B775C"/>
                </a:solidFill>
                <a:latin typeface="Arial"/>
                <a:ea typeface="Arial"/>
                <a:cs typeface="Arial"/>
              </a:defRPr>
            </a:defPPr>
          </a:lstStyle>
          <a:p xmlns:a="http://schemas.openxmlformats.org/drawingml/2006/main">
            <a:pPr algn="l">
              <a:lnSpc>
                <a:spcPct val="110000"/>
              </a:lnSpc>
              <a:buNone/>
              <a:defRPr sz="3075" b="1">
                <a:solidFill>
                  <a:srgbClr val="2B775C"/>
                </a:solidFill>
                <a:latin typeface="Arial"/>
                <a:ea typeface="Arial"/>
                <a:cs typeface="Arial"/>
              </a:defRPr>
            </a:pPr>
            <a:r>
              <a:rPr sz="3075" b="1">
                <a:solidFill>
                  <a:srgbClr val="2B775C"/>
                </a:solidFill>
                <a:latin typeface="Arial"/>
                <a:ea typeface="Arial"/>
                <a:cs typeface="Arial"/>
              </a:rPr>
              <a:t>03</a:t>
            </a:r>
          </a:p>
        </p:txBody>
      </p:sp>
      <p:sp>
        <p:nvSpPr>
          <p:cNvPr id="11" name="objective-h-2">
            <a:extLst xmlns:a="http://schemas.openxmlformats.org/drawingml/2006/main">
              <a:ext uri="{FF2B5EF4-FFF2-40B4-BE49-F238E27FC236}">
                <a16:creationId xmlns:a16="http://schemas.microsoft.com/office/drawing/2014/main" id="{691F58D3-6249-4050-AF0A-B60D6E104824}"/>
              </a:ext>
            </a:extLst>
          </p:cNvPr>
          <p:cNvSpPr>
            <a:spLocks xmlns:a="http://schemas.openxmlformats.org/drawingml/2006/main" noGrp="1"/>
          </p:cNvSpPr>
          <p:nvPr/>
        </p:nvSpPr>
        <p:spPr>
          <a:xfrm xmlns:a="http://schemas.openxmlformats.org/drawingml/2006/main">
            <a:off x="1466850" y="3686175"/>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Coordinate voluntary commitments</a:t>
            </a:r>
          </a:p>
        </p:txBody>
      </p:sp>
      <p:sp>
        <p:nvSpPr>
          <p:cNvPr id="12" name="objective-b-2">
            <a:extLst xmlns:a="http://schemas.openxmlformats.org/drawingml/2006/main">
              <a:ext uri="{FF2B5EF4-FFF2-40B4-BE49-F238E27FC236}">
                <a16:creationId xmlns:a16="http://schemas.microsoft.com/office/drawing/2014/main" id="{D3FC65C2-F36D-4511-8E9E-643C7E6536E8}"/>
              </a:ext>
            </a:extLst>
          </p:cNvPr>
          <p:cNvSpPr>
            <a:spLocks xmlns:a="http://schemas.openxmlformats.org/drawingml/2006/main" noGrp="1"/>
          </p:cNvSpPr>
          <p:nvPr/>
        </p:nvSpPr>
        <p:spPr>
          <a:xfrm xmlns:a="http://schemas.openxmlformats.org/drawingml/2006/main">
            <a:off x="1466850" y="412432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55D"/>
                </a:solidFill>
                <a:latin typeface="Arial"/>
                <a:ea typeface="Arial"/>
                <a:cs typeface="Arial"/>
              </a:defRPr>
            </a:defPPr>
          </a:lstStyle>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Accept planting area only within defined capacity constraints.</a:t>
            </a:r>
          </a:p>
        </p:txBody>
      </p:sp>
      <p:sp>
        <p:nvSpPr>
          <p:cNvPr id="13" name="objective-n-3">
            <a:extLst xmlns:a="http://schemas.openxmlformats.org/drawingml/2006/main">
              <a:ext uri="{FF2B5EF4-FFF2-40B4-BE49-F238E27FC236}">
                <a16:creationId xmlns:a16="http://schemas.microsoft.com/office/drawing/2014/main" id="{E074BF8E-8E3D-48C7-9DA6-01210C26A6FE}"/>
              </a:ext>
            </a:extLst>
          </p:cNvPr>
          <p:cNvSpPr>
            <a:spLocks xmlns:a="http://schemas.openxmlformats.org/drawingml/2006/main" noGrp="1"/>
          </p:cNvSpPr>
          <p:nvPr/>
        </p:nvSpPr>
        <p:spPr>
          <a:xfrm xmlns:a="http://schemas.openxmlformats.org/drawingml/2006/main">
            <a:off x="600075" y="4648200"/>
            <a:ext cx="6381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2B775C"/>
                </a:solidFill>
                <a:latin typeface="Arial"/>
                <a:ea typeface="Arial"/>
                <a:cs typeface="Arial"/>
              </a:defRPr>
            </a:defPPr>
          </a:lstStyle>
          <a:p xmlns:a="http://schemas.openxmlformats.org/drawingml/2006/main">
            <a:pPr algn="l">
              <a:lnSpc>
                <a:spcPct val="110000"/>
              </a:lnSpc>
              <a:buNone/>
              <a:defRPr sz="3075" b="1">
                <a:solidFill>
                  <a:srgbClr val="2B775C"/>
                </a:solidFill>
                <a:latin typeface="Arial"/>
                <a:ea typeface="Arial"/>
                <a:cs typeface="Arial"/>
              </a:defRPr>
            </a:pPr>
            <a:r>
              <a:rPr sz="3075" b="1">
                <a:solidFill>
                  <a:srgbClr val="2B775C"/>
                </a:solidFill>
                <a:latin typeface="Arial"/>
                <a:ea typeface="Arial"/>
                <a:cs typeface="Arial"/>
              </a:rPr>
              <a:t>04</a:t>
            </a:r>
          </a:p>
        </p:txBody>
      </p:sp>
      <p:sp>
        <p:nvSpPr>
          <p:cNvPr id="14" name="objective-h-3">
            <a:extLst xmlns:a="http://schemas.openxmlformats.org/drawingml/2006/main">
              <a:ext uri="{FF2B5EF4-FFF2-40B4-BE49-F238E27FC236}">
                <a16:creationId xmlns:a16="http://schemas.microsoft.com/office/drawing/2014/main" id="{38153298-A96D-4580-929A-E8883B294C33}"/>
              </a:ext>
            </a:extLst>
          </p:cNvPr>
          <p:cNvSpPr>
            <a:spLocks xmlns:a="http://schemas.openxmlformats.org/drawingml/2006/main" noGrp="1"/>
          </p:cNvSpPr>
          <p:nvPr/>
        </p:nvSpPr>
        <p:spPr>
          <a:xfrm xmlns:a="http://schemas.openxmlformats.org/drawingml/2006/main">
            <a:off x="1466850" y="4648200"/>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Compare against simple baselines</a:t>
            </a:r>
          </a:p>
        </p:txBody>
      </p:sp>
      <p:sp>
        <p:nvSpPr>
          <p:cNvPr id="15" name="objective-b-3">
            <a:extLst xmlns:a="http://schemas.openxmlformats.org/drawingml/2006/main">
              <a:ext uri="{FF2B5EF4-FFF2-40B4-BE49-F238E27FC236}">
                <a16:creationId xmlns:a16="http://schemas.microsoft.com/office/drawing/2014/main" id="{71CB30F8-1A53-493E-98F3-1C75540311FD}"/>
              </a:ext>
            </a:extLst>
          </p:cNvPr>
          <p:cNvSpPr>
            <a:spLocks xmlns:a="http://schemas.openxmlformats.org/drawingml/2006/main" noGrp="1"/>
          </p:cNvSpPr>
          <p:nvPr/>
        </p:nvSpPr>
        <p:spPr>
          <a:xfrm xmlns:a="http://schemas.openxmlformats.org/drawingml/2006/main">
            <a:off x="1466850" y="50863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55D"/>
                </a:solidFill>
                <a:latin typeface="Arial"/>
                <a:ea typeface="Arial"/>
                <a:cs typeface="Arial"/>
              </a:defRPr>
            </a:defPPr>
          </a:lstStyle>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Measure held-out error, interval coverage and ranking quality.</a:t>
            </a:r>
          </a:p>
        </p:txBody>
      </p:sp>
      <p:sp>
        <p:nvSpPr>
          <p:cNvPr id="16" name="footnote-3">
            <a:extLst xmlns:a="http://schemas.openxmlformats.org/drawingml/2006/main">
              <a:ext uri="{FF2B5EF4-FFF2-40B4-BE49-F238E27FC236}">
                <a16:creationId xmlns:a16="http://schemas.microsoft.com/office/drawing/2014/main" id="{991CEF90-DE76-472B-A57A-B6F86CB5D761}"/>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Scope excludes nationwide validated forecasts, personalized farm yields and guaranteed income gains.</a:t>
            </a:r>
          </a:p>
        </p:txBody>
      </p:sp>
    </p:spTree>
    <p:extLst>
      <p:ext uri="{BB962C8B-B14F-4D97-AF65-F5344CB8AC3E}">
        <p14:creationId xmlns:p14="http://schemas.microsoft.com/office/powerpoint/2010/main" val="1478486044"/>
      </p:ext>
    </p:extLst>
  </p:cSld>
</p:sld>
</file>

<file path=ppt/slides/slide4.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B7C15E32-D42A-49F8-80B8-6A02185BB1E3}"/>
              </a:ext>
            </a:extLst>
          </p:cNvPr>
          <p:cNvCxnSpPr>
            <a:stCxn xmlns:a="http://schemas.openxmlformats.org/drawingml/2006/main" id="15" idx="2"/>
            <a:endCxn xmlns:a="http://schemas.openxmlformats.org/drawingml/2006/main" id="21" idx="2"/>
          </p:cNvCxnSpPr>
          <p:nvPr/>
        </p:nvCxnSpPr>
        <p:spPr>
          <a:xfrm xmlns:a="http://schemas.openxmlformats.org/drawingml/2006/main">
            <a:off x="2157413" y="5057775"/>
            <a:ext cx="7886700" cy="228600"/>
          </a:xfrm>
          <a:prstGeom xmlns:a="http://schemas.openxmlformats.org/drawingml/2006/main" prst="bentConnector4">
            <a:avLst/>
          </a:prstGeom>
          <a:ln xmlns:a="http://schemas.openxmlformats.org/drawingml/2006/main" w="20955">
            <a:solidFill>
              <a:srgbClr val="2B775C"/>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AFBD88D-A84D-493A-B5E6-FFC2C00AD072}"/>
              </a:ext>
            </a:extLst>
          </p:cNvPr>
          <p:cNvCxnSpPr>
            <a:stCxn xmlns:a="http://schemas.openxmlformats.org/drawingml/2006/main" id="18" idx="1"/>
            <a:endCxn xmlns:a="http://schemas.openxmlformats.org/drawingml/2006/main" id="15" idx="3"/>
          </p:cNvCxnSpPr>
          <p:nvPr/>
        </p:nvCxnSpPr>
        <p:spPr>
          <a:xfrm xmlns:a="http://schemas.openxmlformats.org/drawingml/2006/main" flipH="1">
            <a:off x="3705225" y="4519613"/>
            <a:ext cx="8477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1D5F6347-0125-40BD-97F9-DECAC590C305}"/>
              </a:ext>
            </a:extLst>
          </p:cNvPr>
          <p:cNvCxnSpPr>
            <a:stCxn xmlns:a="http://schemas.openxmlformats.org/drawingml/2006/main" id="21" idx="1"/>
            <a:endCxn xmlns:a="http://schemas.openxmlformats.org/drawingml/2006/main" id="18" idx="3"/>
          </p:cNvCxnSpPr>
          <p:nvPr/>
        </p:nvCxnSpPr>
        <p:spPr>
          <a:xfrm xmlns:a="http://schemas.openxmlformats.org/drawingml/2006/main" flipH="1">
            <a:off x="7648575" y="4519613"/>
            <a:ext cx="8477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6B7AC29D-49CA-45DC-A3B0-D89DB0AA2EA0}"/>
              </a:ext>
            </a:extLst>
          </p:cNvPr>
          <p:cNvCxnSpPr>
            <a:stCxn xmlns:a="http://schemas.openxmlformats.org/drawingml/2006/main" id="10" idx="2"/>
            <a:endCxn xmlns:a="http://schemas.openxmlformats.org/drawingml/2006/main" id="21" idx="0"/>
          </p:cNvCxnSpPr>
          <p:nvPr/>
        </p:nvCxnSpPr>
        <p:spPr>
          <a:xfrm xmlns:a="http://schemas.openxmlformats.org/drawingml/2006/main">
            <a:off x="10044113" y="2952750"/>
            <a:ext cx="0" cy="102870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83910D0-D3AA-4B55-9D02-DB92070BCCE0}"/>
              </a:ext>
            </a:extLst>
          </p:cNvPr>
          <p:cNvCxnSpPr>
            <a:stCxn xmlns:a="http://schemas.openxmlformats.org/drawingml/2006/main" id="7" idx="3"/>
            <a:endCxn xmlns:a="http://schemas.openxmlformats.org/drawingml/2006/main" id="10" idx="1"/>
          </p:cNvCxnSpPr>
          <p:nvPr/>
        </p:nvCxnSpPr>
        <p:spPr>
          <a:xfrm xmlns:a="http://schemas.openxmlformats.org/drawingml/2006/main">
            <a:off x="7648575" y="2419350"/>
            <a:ext cx="8477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706C6914-2FE2-4E38-AE0A-E3D668383A42}"/>
              </a:ext>
            </a:extLst>
          </p:cNvPr>
          <p:cNvCxnSpPr>
            <a:stCxn xmlns:a="http://schemas.openxmlformats.org/drawingml/2006/main" id="4" idx="3"/>
            <a:endCxn xmlns:a="http://schemas.openxmlformats.org/drawingml/2006/main" id="7" idx="1"/>
          </p:cNvCxnSpPr>
          <p:nvPr/>
        </p:nvCxnSpPr>
        <p:spPr>
          <a:xfrm xmlns:a="http://schemas.openxmlformats.org/drawingml/2006/main">
            <a:off x="3705225" y="2419350"/>
            <a:ext cx="8477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sp>
        <p:nvSpPr>
          <p:cNvPr id="30" name="title-4">
            <a:extLst xmlns:a="http://schemas.openxmlformats.org/drawingml/2006/main">
              <a:ext uri="{FF2B5EF4-FFF2-40B4-BE49-F238E27FC236}">
                <a16:creationId xmlns:a16="http://schemas.microsoft.com/office/drawing/2014/main" id="{B239FE23-F2AB-41BB-AF37-7805889EBD7A}"/>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Proposed regional architecture</a:t>
            </a:r>
          </a:p>
        </p:txBody>
      </p:sp>
      <p:sp>
        <p:nvSpPr>
          <p:cNvPr id="2" name="subtitle-4">
            <a:extLst xmlns:a="http://schemas.openxmlformats.org/drawingml/2006/main">
              <a:ext uri="{FF2B5EF4-FFF2-40B4-BE49-F238E27FC236}">
                <a16:creationId xmlns:a16="http://schemas.microsoft.com/office/drawing/2014/main" id="{DF0CACB4-75DE-40EE-897D-A4534A5BF682}"/>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R / Python pipeline, FastAPI service and React dashboard</a:t>
            </a:r>
          </a:p>
        </p:txBody>
      </p:sp>
      <p:sp>
        <p:nvSpPr>
          <p:cNvPr id="3" name="page-4">
            <a:extLst xmlns:a="http://schemas.openxmlformats.org/drawingml/2006/main">
              <a:ext uri="{FF2B5EF4-FFF2-40B4-BE49-F238E27FC236}">
                <a16:creationId xmlns:a16="http://schemas.microsoft.com/office/drawing/2014/main" id="{3F79589C-68E6-4F90-B52C-FD1435973DD5}"/>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04</a:t>
            </a:r>
          </a:p>
        </p:txBody>
      </p:sp>
      <p:sp>
        <p:nvSpPr>
          <p:cNvPr id="4" name="arch-input">
            <a:extLst xmlns:a="http://schemas.openxmlformats.org/drawingml/2006/main">
              <a:ext uri="{FF2B5EF4-FFF2-40B4-BE49-F238E27FC236}">
                <a16:creationId xmlns:a16="http://schemas.microsoft.com/office/drawing/2014/main" id="{1E8B493E-A10B-4FE1-AF37-E42A601A2056}"/>
              </a:ext>
            </a:extLst>
          </p:cNvPr>
          <p:cNvSpPr>
            <a:spLocks xmlns:a="http://schemas.openxmlformats.org/drawingml/2006/main" noGrp="1"/>
          </p:cNvSpPr>
          <p:nvPr/>
        </p:nvSpPr>
        <p:spPr>
          <a:xfrm xmlns:a="http://schemas.openxmlformats.org/drawingml/2006/main">
            <a:off x="609600" y="1885950"/>
            <a:ext cx="309562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5" name="arch-input-title">
            <a:extLst xmlns:a="http://schemas.openxmlformats.org/drawingml/2006/main">
              <a:ext uri="{FF2B5EF4-FFF2-40B4-BE49-F238E27FC236}">
                <a16:creationId xmlns:a16="http://schemas.microsoft.com/office/drawing/2014/main" id="{5E4EB0A6-14C1-43D7-B11F-6ED0807FF443}"/>
              </a:ext>
            </a:extLst>
          </p:cNvPr>
          <p:cNvSpPr>
            <a:spLocks xmlns:a="http://schemas.openxmlformats.org/drawingml/2006/main" noGrp="1"/>
          </p:cNvSpPr>
          <p:nvPr/>
        </p:nvSpPr>
        <p:spPr>
          <a:xfrm xmlns:a="http://schemas.openxmlformats.org/drawingml/2006/main">
            <a:off x="752475" y="20288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Historical inputs</a:t>
            </a:r>
          </a:p>
        </p:txBody>
      </p:sp>
      <p:sp>
        <p:nvSpPr>
          <p:cNvPr id="6" name="arch-input-sub">
            <a:extLst xmlns:a="http://schemas.openxmlformats.org/drawingml/2006/main">
              <a:ext uri="{FF2B5EF4-FFF2-40B4-BE49-F238E27FC236}">
                <a16:creationId xmlns:a16="http://schemas.microsoft.com/office/drawing/2014/main" id="{D16477F2-36C7-4992-A52A-393D34B2A9C7}"/>
              </a:ext>
            </a:extLst>
          </p:cNvPr>
          <p:cNvSpPr>
            <a:spLocks xmlns:a="http://schemas.openxmlformats.org/drawingml/2006/main" noGrp="1"/>
          </p:cNvSpPr>
          <p:nvPr/>
        </p:nvSpPr>
        <p:spPr>
          <a:xfrm xmlns:a="http://schemas.openxmlformats.org/drawingml/2006/main">
            <a:off x="752475" y="2438400"/>
            <a:ext cx="2809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Yield, climate, soil</a:t>
            </a:r>
          </a:p>
        </p:txBody>
      </p:sp>
      <p:sp>
        <p:nvSpPr>
          <p:cNvPr id="7" name="arch-clean">
            <a:extLst xmlns:a="http://schemas.openxmlformats.org/drawingml/2006/main">
              <a:ext uri="{FF2B5EF4-FFF2-40B4-BE49-F238E27FC236}">
                <a16:creationId xmlns:a16="http://schemas.microsoft.com/office/drawing/2014/main" id="{ACBFC094-A652-4AFA-B858-6D0A5745FF15}"/>
              </a:ext>
            </a:extLst>
          </p:cNvPr>
          <p:cNvSpPr>
            <a:spLocks xmlns:a="http://schemas.openxmlformats.org/drawingml/2006/main" noGrp="1"/>
          </p:cNvSpPr>
          <p:nvPr/>
        </p:nvSpPr>
        <p:spPr>
          <a:xfrm xmlns:a="http://schemas.openxmlformats.org/drawingml/2006/main">
            <a:off x="4552950" y="1885950"/>
            <a:ext cx="309562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8" name="arch-clean-title">
            <a:extLst xmlns:a="http://schemas.openxmlformats.org/drawingml/2006/main">
              <a:ext uri="{FF2B5EF4-FFF2-40B4-BE49-F238E27FC236}">
                <a16:creationId xmlns:a16="http://schemas.microsoft.com/office/drawing/2014/main" id="{30350609-0BD3-48AE-A6E6-8A0B8BF8C1DE}"/>
              </a:ext>
            </a:extLst>
          </p:cNvPr>
          <p:cNvSpPr>
            <a:spLocks xmlns:a="http://schemas.openxmlformats.org/drawingml/2006/main" noGrp="1"/>
          </p:cNvSpPr>
          <p:nvPr/>
        </p:nvSpPr>
        <p:spPr>
          <a:xfrm xmlns:a="http://schemas.openxmlformats.org/drawingml/2006/main">
            <a:off x="4695825" y="20288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Audit + features</a:t>
            </a:r>
          </a:p>
        </p:txBody>
      </p:sp>
      <p:sp>
        <p:nvSpPr>
          <p:cNvPr id="9" name="arch-clean-sub">
            <a:extLst xmlns:a="http://schemas.openxmlformats.org/drawingml/2006/main">
              <a:ext uri="{FF2B5EF4-FFF2-40B4-BE49-F238E27FC236}">
                <a16:creationId xmlns:a16="http://schemas.microsoft.com/office/drawing/2014/main" id="{AE0D0BFA-7FD6-44E9-ACEB-D623A08A84B1}"/>
              </a:ext>
            </a:extLst>
          </p:cNvPr>
          <p:cNvSpPr>
            <a:spLocks xmlns:a="http://schemas.openxmlformats.org/drawingml/2006/main" noGrp="1"/>
          </p:cNvSpPr>
          <p:nvPr/>
        </p:nvSpPr>
        <p:spPr>
          <a:xfrm xmlns:a="http://schemas.openxmlformats.org/drawingml/2006/main">
            <a:off x="4695825" y="2438400"/>
            <a:ext cx="2809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R / Python</a:t>
            </a:r>
          </a:p>
        </p:txBody>
      </p:sp>
      <p:sp>
        <p:nvSpPr>
          <p:cNvPr id="10" name="arch-yield">
            <a:extLst xmlns:a="http://schemas.openxmlformats.org/drawingml/2006/main">
              <a:ext uri="{FF2B5EF4-FFF2-40B4-BE49-F238E27FC236}">
                <a16:creationId xmlns:a16="http://schemas.microsoft.com/office/drawing/2014/main" id="{043A9E83-9F45-4228-BC16-2F12F1452BE0}"/>
              </a:ext>
            </a:extLst>
          </p:cNvPr>
          <p:cNvSpPr>
            <a:spLocks xmlns:a="http://schemas.openxmlformats.org/drawingml/2006/main" noGrp="1"/>
          </p:cNvSpPr>
          <p:nvPr/>
        </p:nvSpPr>
        <p:spPr>
          <a:xfrm xmlns:a="http://schemas.openxmlformats.org/drawingml/2006/main">
            <a:off x="8496300" y="1885950"/>
            <a:ext cx="309562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1" name="arch-yield-title">
            <a:extLst xmlns:a="http://schemas.openxmlformats.org/drawingml/2006/main">
              <a:ext uri="{FF2B5EF4-FFF2-40B4-BE49-F238E27FC236}">
                <a16:creationId xmlns:a16="http://schemas.microsoft.com/office/drawing/2014/main" id="{ED2CFA87-FE14-49D8-BA1C-65575D460DD8}"/>
              </a:ext>
            </a:extLst>
          </p:cNvPr>
          <p:cNvSpPr>
            <a:spLocks xmlns:a="http://schemas.openxmlformats.org/drawingml/2006/main" noGrp="1"/>
          </p:cNvSpPr>
          <p:nvPr/>
        </p:nvSpPr>
        <p:spPr>
          <a:xfrm xmlns:a="http://schemas.openxmlformats.org/drawingml/2006/main">
            <a:off x="8639175" y="20288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Yield forecasts</a:t>
            </a:r>
          </a:p>
        </p:txBody>
      </p:sp>
      <p:sp>
        <p:nvSpPr>
          <p:cNvPr id="12" name="arch-yield-sub">
            <a:extLst xmlns:a="http://schemas.openxmlformats.org/drawingml/2006/main">
              <a:ext uri="{FF2B5EF4-FFF2-40B4-BE49-F238E27FC236}">
                <a16:creationId xmlns:a16="http://schemas.microsoft.com/office/drawing/2014/main" id="{7C2E602C-2D8F-4E05-BB97-50FC6D8F1E55}"/>
              </a:ext>
            </a:extLst>
          </p:cNvPr>
          <p:cNvSpPr>
            <a:spLocks xmlns:a="http://schemas.openxmlformats.org/drawingml/2006/main" noGrp="1"/>
          </p:cNvSpPr>
          <p:nvPr/>
        </p:nvSpPr>
        <p:spPr>
          <a:xfrm xmlns:a="http://schemas.openxmlformats.org/drawingml/2006/main">
            <a:off x="8639175" y="2438400"/>
            <a:ext cx="2809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Quantile LightGBM</a:t>
            </a:r>
          </a:p>
        </p:txBody>
      </p:sp>
      <p:sp>
        <p:nvSpPr>
          <p:cNvPr id="15" name="arch-ledger">
            <a:extLst xmlns:a="http://schemas.openxmlformats.org/drawingml/2006/main">
              <a:ext uri="{FF2B5EF4-FFF2-40B4-BE49-F238E27FC236}">
                <a16:creationId xmlns:a16="http://schemas.microsoft.com/office/drawing/2014/main" id="{805AD4F2-2B9C-4C4A-974E-2124B374848A}"/>
              </a:ext>
            </a:extLst>
          </p:cNvPr>
          <p:cNvSpPr>
            <a:spLocks xmlns:a="http://schemas.openxmlformats.org/drawingml/2006/main" noGrp="1"/>
          </p:cNvSpPr>
          <p:nvPr/>
        </p:nvSpPr>
        <p:spPr>
          <a:xfrm xmlns:a="http://schemas.openxmlformats.org/drawingml/2006/main">
            <a:off x="609600" y="3981450"/>
            <a:ext cx="3095625" cy="1076325"/>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6" name="arch-ledger-title">
            <a:extLst xmlns:a="http://schemas.openxmlformats.org/drawingml/2006/main">
              <a:ext uri="{FF2B5EF4-FFF2-40B4-BE49-F238E27FC236}">
                <a16:creationId xmlns:a16="http://schemas.microsoft.com/office/drawing/2014/main" id="{EA09CBA6-B8A6-4E08-A81A-9CF5218F7E13}"/>
              </a:ext>
            </a:extLst>
          </p:cNvPr>
          <p:cNvSpPr>
            <a:spLocks xmlns:a="http://schemas.openxmlformats.org/drawingml/2006/main" noGrp="1"/>
          </p:cNvSpPr>
          <p:nvPr/>
        </p:nvSpPr>
        <p:spPr>
          <a:xfrm xmlns:a="http://schemas.openxmlformats.org/drawingml/2006/main">
            <a:off x="752475" y="41243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Planting ledger</a:t>
            </a:r>
          </a:p>
        </p:txBody>
      </p:sp>
      <p:sp>
        <p:nvSpPr>
          <p:cNvPr id="17" name="arch-ledger-sub">
            <a:extLst xmlns:a="http://schemas.openxmlformats.org/drawingml/2006/main">
              <a:ext uri="{FF2B5EF4-FFF2-40B4-BE49-F238E27FC236}">
                <a16:creationId xmlns:a16="http://schemas.microsoft.com/office/drawing/2014/main" id="{BCB4B696-50BB-401C-BCE3-CDF23BC1C802}"/>
              </a:ext>
            </a:extLst>
          </p:cNvPr>
          <p:cNvSpPr>
            <a:spLocks xmlns:a="http://schemas.openxmlformats.org/drawingml/2006/main" noGrp="1"/>
          </p:cNvSpPr>
          <p:nvPr/>
        </p:nvSpPr>
        <p:spPr>
          <a:xfrm xmlns:a="http://schemas.openxmlformats.org/drawingml/2006/main">
            <a:off x="752475" y="4533900"/>
            <a:ext cx="2809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Scoped, durable state</a:t>
            </a:r>
          </a:p>
        </p:txBody>
      </p:sp>
      <p:sp>
        <p:nvSpPr>
          <p:cNvPr id="18" name="arch-ui">
            <a:extLst xmlns:a="http://schemas.openxmlformats.org/drawingml/2006/main">
              <a:ext uri="{FF2B5EF4-FFF2-40B4-BE49-F238E27FC236}">
                <a16:creationId xmlns:a16="http://schemas.microsoft.com/office/drawing/2014/main" id="{A4F56020-F713-410D-95A3-5148F1728FF0}"/>
              </a:ext>
            </a:extLst>
          </p:cNvPr>
          <p:cNvSpPr>
            <a:spLocks xmlns:a="http://schemas.openxmlformats.org/drawingml/2006/main" noGrp="1"/>
          </p:cNvSpPr>
          <p:nvPr/>
        </p:nvSpPr>
        <p:spPr>
          <a:xfrm xmlns:a="http://schemas.openxmlformats.org/drawingml/2006/main">
            <a:off x="4552950" y="3981450"/>
            <a:ext cx="3095625" cy="1076325"/>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9" name="arch-ui-title">
            <a:extLst xmlns:a="http://schemas.openxmlformats.org/drawingml/2006/main">
              <a:ext uri="{FF2B5EF4-FFF2-40B4-BE49-F238E27FC236}">
                <a16:creationId xmlns:a16="http://schemas.microsoft.com/office/drawing/2014/main" id="{C9900B43-9A3C-4EDA-9ADF-0B1F2215726E}"/>
              </a:ext>
            </a:extLst>
          </p:cNvPr>
          <p:cNvSpPr>
            <a:spLocks xmlns:a="http://schemas.openxmlformats.org/drawingml/2006/main" noGrp="1"/>
          </p:cNvSpPr>
          <p:nvPr/>
        </p:nvSpPr>
        <p:spPr>
          <a:xfrm xmlns:a="http://schemas.openxmlformats.org/drawingml/2006/main">
            <a:off x="4695825" y="41243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Dashboard</a:t>
            </a:r>
          </a:p>
        </p:txBody>
      </p:sp>
      <p:sp>
        <p:nvSpPr>
          <p:cNvPr id="20" name="arch-ui-sub">
            <a:extLst xmlns:a="http://schemas.openxmlformats.org/drawingml/2006/main">
              <a:ext uri="{FF2B5EF4-FFF2-40B4-BE49-F238E27FC236}">
                <a16:creationId xmlns:a16="http://schemas.microsoft.com/office/drawing/2014/main" id="{391AC648-690F-4EE5-BBAA-083489D98A2F}"/>
              </a:ext>
            </a:extLst>
          </p:cNvPr>
          <p:cNvSpPr>
            <a:spLocks xmlns:a="http://schemas.openxmlformats.org/drawingml/2006/main" noGrp="1"/>
          </p:cNvSpPr>
          <p:nvPr/>
        </p:nvSpPr>
        <p:spPr>
          <a:xfrm xmlns:a="http://schemas.openxmlformats.org/drawingml/2006/main">
            <a:off x="4695825" y="4533900"/>
            <a:ext cx="2809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Ranked crop choices</a:t>
            </a:r>
          </a:p>
        </p:txBody>
      </p:sp>
      <p:sp>
        <p:nvSpPr>
          <p:cNvPr id="21" name="arch-profit">
            <a:extLst xmlns:a="http://schemas.openxmlformats.org/drawingml/2006/main">
              <a:ext uri="{FF2B5EF4-FFF2-40B4-BE49-F238E27FC236}">
                <a16:creationId xmlns:a16="http://schemas.microsoft.com/office/drawing/2014/main" id="{3011F326-F5C8-462A-B33B-81973B5EF5CE}"/>
              </a:ext>
            </a:extLst>
          </p:cNvPr>
          <p:cNvSpPr>
            <a:spLocks xmlns:a="http://schemas.openxmlformats.org/drawingml/2006/main" noGrp="1"/>
          </p:cNvSpPr>
          <p:nvPr/>
        </p:nvSpPr>
        <p:spPr>
          <a:xfrm xmlns:a="http://schemas.openxmlformats.org/drawingml/2006/main">
            <a:off x="8496300" y="3981450"/>
            <a:ext cx="3095625"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22" name="arch-profit-title">
            <a:extLst xmlns:a="http://schemas.openxmlformats.org/drawingml/2006/main">
              <a:ext uri="{FF2B5EF4-FFF2-40B4-BE49-F238E27FC236}">
                <a16:creationId xmlns:a16="http://schemas.microsoft.com/office/drawing/2014/main" id="{28CD9428-3010-45B7-ABBF-F38D16263957}"/>
              </a:ext>
            </a:extLst>
          </p:cNvPr>
          <p:cNvSpPr>
            <a:spLocks xmlns:a="http://schemas.openxmlformats.org/drawingml/2006/main" noGrp="1"/>
          </p:cNvSpPr>
          <p:nvPr/>
        </p:nvSpPr>
        <p:spPr>
          <a:xfrm xmlns:a="http://schemas.openxmlformats.org/drawingml/2006/main">
            <a:off x="8639175" y="41243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Scenario ranking</a:t>
            </a:r>
          </a:p>
        </p:txBody>
      </p:sp>
      <p:sp>
        <p:nvSpPr>
          <p:cNvPr id="23" name="arch-profit-sub">
            <a:extLst xmlns:a="http://schemas.openxmlformats.org/drawingml/2006/main">
              <a:ext uri="{FF2B5EF4-FFF2-40B4-BE49-F238E27FC236}">
                <a16:creationId xmlns:a16="http://schemas.microsoft.com/office/drawing/2014/main" id="{D7E543E6-7C30-4992-8BFA-B17C4EA36E47}"/>
              </a:ext>
            </a:extLst>
          </p:cNvPr>
          <p:cNvSpPr>
            <a:spLocks xmlns:a="http://schemas.openxmlformats.org/drawingml/2006/main" noGrp="1"/>
          </p:cNvSpPr>
          <p:nvPr/>
        </p:nvSpPr>
        <p:spPr>
          <a:xfrm xmlns:a="http://schemas.openxmlformats.org/drawingml/2006/main">
            <a:off x="8639175" y="4533900"/>
            <a:ext cx="2809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Supply, price + profit</a:t>
            </a:r>
          </a:p>
        </p:txBody>
      </p:sp>
      <p:sp>
        <p:nvSpPr>
          <p:cNvPr id="28" name="commit-caption">
            <a:extLst xmlns:a="http://schemas.openxmlformats.org/drawingml/2006/main">
              <a:ext uri="{FF2B5EF4-FFF2-40B4-BE49-F238E27FC236}">
                <a16:creationId xmlns:a16="http://schemas.microsoft.com/office/drawing/2014/main" id="{4B365210-85CF-4251-9BDB-1CAEDF6ACFE0}"/>
              </a:ext>
            </a:extLst>
          </p:cNvPr>
          <p:cNvSpPr>
            <a:spLocks xmlns:a="http://schemas.openxmlformats.org/drawingml/2006/main" noGrp="1"/>
          </p:cNvSpPr>
          <p:nvPr/>
        </p:nvSpPr>
        <p:spPr>
          <a:xfrm xmlns:a="http://schemas.openxmlformats.org/drawingml/2006/main">
            <a:off x="1352550" y="5448300"/>
            <a:ext cx="9439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2B775C"/>
                </a:solidFill>
                <a:latin typeface="Arial"/>
                <a:ea typeface="Arial"/>
                <a:cs typeface="Arial"/>
              </a:defRPr>
            </a:defPPr>
          </a:lstStyle>
          <a:p xmlns:a="http://schemas.openxmlformats.org/drawingml/2006/main">
            <a:pPr algn="ctr">
              <a:lnSpc>
                <a:spcPct val="110000"/>
              </a:lnSpc>
              <a:buNone/>
              <a:defRPr sz="1950" b="1">
                <a:solidFill>
                  <a:srgbClr val="2B775C"/>
                </a:solidFill>
                <a:latin typeface="Arial"/>
                <a:ea typeface="Arial"/>
                <a:cs typeface="Arial"/>
              </a:defRPr>
            </a:pPr>
            <a:r>
              <a:rPr sz="1950" b="1">
                <a:solidFill>
                  <a:srgbClr val="2B775C"/>
                </a:solidFill>
                <a:latin typeface="Arial"/>
                <a:ea typeface="Arial"/>
                <a:cs typeface="Arial"/>
              </a:rPr>
              <a:t>New commitments update supply and subsequent advice.</a:t>
            </a:r>
          </a:p>
        </p:txBody>
      </p:sp>
      <p:sp>
        <p:nvSpPr>
          <p:cNvPr id="29" name="footnote-4">
            <a:extLst xmlns:a="http://schemas.openxmlformats.org/drawingml/2006/main">
              <a:ext uri="{FF2B5EF4-FFF2-40B4-BE49-F238E27FC236}">
                <a16:creationId xmlns:a16="http://schemas.microsoft.com/office/drawing/2014/main" id="{FC3565B3-07DA-4C76-834E-CA048D87EC76}"/>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Price scenarios include an estimate of supply outside the application.</a:t>
            </a:r>
          </a:p>
        </p:txBody>
      </p:sp>
    </p:spTree>
    <p:extLst>
      <p:ext uri="{BB962C8B-B14F-4D97-AF65-F5344CB8AC3E}">
        <p14:creationId xmlns:p14="http://schemas.microsoft.com/office/powerpoint/2010/main" val="890988407"/>
      </p:ext>
    </p:extLst>
  </p:cSld>
</p:sld>
</file>

<file path=ppt/slides/slide5.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9" name="title-5">
            <a:extLst xmlns:a="http://schemas.openxmlformats.org/drawingml/2006/main">
              <a:ext uri="{FF2B5EF4-FFF2-40B4-BE49-F238E27FC236}">
                <a16:creationId xmlns:a16="http://schemas.microsoft.com/office/drawing/2014/main" id="{F35BDC88-8BDC-4C1C-946E-BFBBFAD2852E}"/>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Dataset and data preparation</a:t>
            </a:r>
          </a:p>
        </p:txBody>
      </p:sp>
      <p:sp>
        <p:nvSpPr>
          <p:cNvPr id="2" name="subtitle-5">
            <a:extLst xmlns:a="http://schemas.openxmlformats.org/drawingml/2006/main">
              <a:ext uri="{FF2B5EF4-FFF2-40B4-BE49-F238E27FC236}">
                <a16:creationId xmlns:a16="http://schemas.microsoft.com/office/drawing/2014/main" id="{9EF41692-FCDC-425B-B2A4-63AF2A40FE51}"/>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District–crop–season records with starting years 2000–2019</a:t>
            </a:r>
          </a:p>
        </p:txBody>
      </p:sp>
      <p:sp>
        <p:nvSpPr>
          <p:cNvPr id="3" name="page-5">
            <a:extLst xmlns:a="http://schemas.openxmlformats.org/drawingml/2006/main">
              <a:ext uri="{FF2B5EF4-FFF2-40B4-BE49-F238E27FC236}">
                <a16:creationId xmlns:a16="http://schemas.microsoft.com/office/drawing/2014/main" id="{563A34F5-98F8-43C2-9C00-D8B40BB43197}"/>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05</a:t>
            </a:r>
          </a:p>
        </p:txBody>
      </p:sp>
      <p:sp>
        <p:nvSpPr>
          <p:cNvPr id="4" name="stat-v-0">
            <a:extLst xmlns:a="http://schemas.openxmlformats.org/drawingml/2006/main">
              <a:ext uri="{FF2B5EF4-FFF2-40B4-BE49-F238E27FC236}">
                <a16:creationId xmlns:a16="http://schemas.microsoft.com/office/drawing/2014/main" id="{AF6A0C68-0AF4-4263-B002-1AAA274377C1}"/>
              </a:ext>
            </a:extLst>
          </p:cNvPr>
          <p:cNvSpPr>
            <a:spLocks xmlns:a="http://schemas.openxmlformats.org/drawingml/2006/main" noGrp="1"/>
          </p:cNvSpPr>
          <p:nvPr/>
        </p:nvSpPr>
        <p:spPr>
          <a:xfrm xmlns:a="http://schemas.openxmlformats.org/drawingml/2006/main">
            <a:off x="590550" y="1819275"/>
            <a:ext cx="25336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2B775C"/>
                </a:solidFill>
                <a:latin typeface="Arial"/>
                <a:ea typeface="Arial"/>
                <a:cs typeface="Arial"/>
              </a:defRPr>
            </a:defPPr>
          </a:lstStyle>
          <a:p xmlns:a="http://schemas.openxmlformats.org/drawingml/2006/main">
            <a:pPr algn="l">
              <a:lnSpc>
                <a:spcPct val="110000"/>
              </a:lnSpc>
              <a:buNone/>
              <a:defRPr sz="4275" b="1">
                <a:solidFill>
                  <a:srgbClr val="2B775C"/>
                </a:solidFill>
                <a:latin typeface="Arial"/>
                <a:ea typeface="Arial"/>
                <a:cs typeface="Arial"/>
              </a:defRPr>
            </a:pPr>
            <a:r>
              <a:rPr sz="4275" b="1">
                <a:solidFill>
                  <a:srgbClr val="2B775C"/>
                </a:solidFill>
                <a:latin typeface="Arial"/>
                <a:ea typeface="Arial"/>
                <a:cs typeface="Arial"/>
              </a:rPr>
              <a:t>95,674</a:t>
            </a:r>
          </a:p>
        </p:txBody>
      </p:sp>
      <p:sp>
        <p:nvSpPr>
          <p:cNvPr id="5" name="stat-l-0">
            <a:extLst xmlns:a="http://schemas.openxmlformats.org/drawingml/2006/main">
              <a:ext uri="{FF2B5EF4-FFF2-40B4-BE49-F238E27FC236}">
                <a16:creationId xmlns:a16="http://schemas.microsoft.com/office/drawing/2014/main" id="{E1BE5C63-60E7-4540-9D51-56586A0D19B0}"/>
              </a:ext>
            </a:extLst>
          </p:cNvPr>
          <p:cNvSpPr>
            <a:spLocks xmlns:a="http://schemas.openxmlformats.org/drawingml/2006/main" noGrp="1"/>
          </p:cNvSpPr>
          <p:nvPr/>
        </p:nvSpPr>
        <p:spPr>
          <a:xfrm xmlns:a="http://schemas.openxmlformats.org/drawingml/2006/main">
            <a:off x="590550" y="2667000"/>
            <a:ext cx="2533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5D"/>
                </a:solidFill>
                <a:latin typeface="Arial"/>
                <a:ea typeface="Arial"/>
                <a:cs typeface="Arial"/>
              </a:defRPr>
            </a:defPPr>
          </a:lstStyle>
          <a:p xmlns:a="http://schemas.openxmlformats.org/drawingml/2006/main">
            <a:pPr algn="l">
              <a:lnSpc>
                <a:spcPct val="110000"/>
              </a:lnSpc>
              <a:buNone/>
              <a:defRPr sz="1950" b="0">
                <a:solidFill>
                  <a:srgbClr val="52655D"/>
                </a:solidFill>
                <a:latin typeface="Arial"/>
                <a:ea typeface="Arial"/>
                <a:cs typeface="Arial"/>
              </a:defRPr>
            </a:pPr>
            <a:r>
              <a:rPr sz="1950" b="0">
                <a:solidFill>
                  <a:srgbClr val="52655D"/>
                </a:solidFill>
                <a:latin typeface="Arial"/>
                <a:ea typeface="Arial"/>
                <a:cs typeface="Arial"/>
              </a:rPr>
              <a:t>raw records</a:t>
            </a:r>
          </a:p>
        </p:txBody>
      </p:sp>
      <p:sp>
        <p:nvSpPr>
          <p:cNvPr id="6" name="stat-v-1">
            <a:extLst xmlns:a="http://schemas.openxmlformats.org/drawingml/2006/main">
              <a:ext uri="{FF2B5EF4-FFF2-40B4-BE49-F238E27FC236}">
                <a16:creationId xmlns:a16="http://schemas.microsoft.com/office/drawing/2014/main" id="{AC298EBE-FDF1-4EAA-9241-C4D7CAE66253}"/>
              </a:ext>
            </a:extLst>
          </p:cNvPr>
          <p:cNvSpPr>
            <a:spLocks xmlns:a="http://schemas.openxmlformats.org/drawingml/2006/main" noGrp="1"/>
          </p:cNvSpPr>
          <p:nvPr/>
        </p:nvSpPr>
        <p:spPr>
          <a:xfrm xmlns:a="http://schemas.openxmlformats.org/drawingml/2006/main">
            <a:off x="3448050" y="1819275"/>
            <a:ext cx="25336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2B775C"/>
                </a:solidFill>
                <a:latin typeface="Arial"/>
                <a:ea typeface="Arial"/>
                <a:cs typeface="Arial"/>
              </a:defRPr>
            </a:defPPr>
          </a:lstStyle>
          <a:p xmlns:a="http://schemas.openxmlformats.org/drawingml/2006/main">
            <a:pPr algn="l">
              <a:lnSpc>
                <a:spcPct val="110000"/>
              </a:lnSpc>
              <a:buNone/>
              <a:defRPr sz="4275" b="1">
                <a:solidFill>
                  <a:srgbClr val="2B775C"/>
                </a:solidFill>
                <a:latin typeface="Arial"/>
                <a:ea typeface="Arial"/>
                <a:cs typeface="Arial"/>
              </a:defRPr>
            </a:pPr>
            <a:r>
              <a:rPr sz="4275" b="1">
                <a:solidFill>
                  <a:srgbClr val="2B775C"/>
                </a:solidFill>
                <a:latin typeface="Arial"/>
                <a:ea typeface="Arial"/>
                <a:cs typeface="Arial"/>
              </a:rPr>
              <a:t>95,667</a:t>
            </a:r>
          </a:p>
        </p:txBody>
      </p:sp>
      <p:sp>
        <p:nvSpPr>
          <p:cNvPr id="7" name="stat-l-1">
            <a:extLst xmlns:a="http://schemas.openxmlformats.org/drawingml/2006/main">
              <a:ext uri="{FF2B5EF4-FFF2-40B4-BE49-F238E27FC236}">
                <a16:creationId xmlns:a16="http://schemas.microsoft.com/office/drawing/2014/main" id="{62BA4CC2-0C70-4C94-BD2C-64DF52C6EAEE}"/>
              </a:ext>
            </a:extLst>
          </p:cNvPr>
          <p:cNvSpPr>
            <a:spLocks xmlns:a="http://schemas.openxmlformats.org/drawingml/2006/main" noGrp="1"/>
          </p:cNvSpPr>
          <p:nvPr/>
        </p:nvSpPr>
        <p:spPr>
          <a:xfrm xmlns:a="http://schemas.openxmlformats.org/drawingml/2006/main">
            <a:off x="3448050" y="2667000"/>
            <a:ext cx="2533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5D"/>
                </a:solidFill>
                <a:latin typeface="Arial"/>
                <a:ea typeface="Arial"/>
                <a:cs typeface="Arial"/>
              </a:defRPr>
            </a:defPPr>
          </a:lstStyle>
          <a:p xmlns:a="http://schemas.openxmlformats.org/drawingml/2006/main">
            <a:pPr algn="l">
              <a:lnSpc>
                <a:spcPct val="110000"/>
              </a:lnSpc>
              <a:buNone/>
              <a:defRPr sz="1950" b="0">
                <a:solidFill>
                  <a:srgbClr val="52655D"/>
                </a:solidFill>
                <a:latin typeface="Arial"/>
                <a:ea typeface="Arial"/>
                <a:cs typeface="Arial"/>
              </a:defRPr>
            </a:pPr>
            <a:r>
              <a:rPr sz="1950" b="0">
                <a:solidFill>
                  <a:srgbClr val="52655D"/>
                </a:solidFill>
                <a:latin typeface="Arial"/>
                <a:ea typeface="Arial"/>
                <a:cs typeface="Arial"/>
              </a:rPr>
              <a:t>cleaned records</a:t>
            </a:r>
          </a:p>
        </p:txBody>
      </p:sp>
      <p:sp>
        <p:nvSpPr>
          <p:cNvPr id="8" name="stat-v-2">
            <a:extLst xmlns:a="http://schemas.openxmlformats.org/drawingml/2006/main">
              <a:ext uri="{FF2B5EF4-FFF2-40B4-BE49-F238E27FC236}">
                <a16:creationId xmlns:a16="http://schemas.microsoft.com/office/drawing/2014/main" id="{E0EDAE05-F1D1-4800-9CB2-C62FCE9D36F8}"/>
              </a:ext>
            </a:extLst>
          </p:cNvPr>
          <p:cNvSpPr>
            <a:spLocks xmlns:a="http://schemas.openxmlformats.org/drawingml/2006/main" noGrp="1"/>
          </p:cNvSpPr>
          <p:nvPr/>
        </p:nvSpPr>
        <p:spPr>
          <a:xfrm xmlns:a="http://schemas.openxmlformats.org/drawingml/2006/main">
            <a:off x="6305550" y="1819275"/>
            <a:ext cx="25336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2B775C"/>
                </a:solidFill>
                <a:latin typeface="Arial"/>
                <a:ea typeface="Arial"/>
                <a:cs typeface="Arial"/>
              </a:defRPr>
            </a:defPPr>
          </a:lstStyle>
          <a:p xmlns:a="http://schemas.openxmlformats.org/drawingml/2006/main">
            <a:pPr algn="l">
              <a:lnSpc>
                <a:spcPct val="110000"/>
              </a:lnSpc>
              <a:buNone/>
              <a:defRPr sz="4275" b="1">
                <a:solidFill>
                  <a:srgbClr val="2B775C"/>
                </a:solidFill>
                <a:latin typeface="Arial"/>
                <a:ea typeface="Arial"/>
                <a:cs typeface="Arial"/>
              </a:defRPr>
            </a:pPr>
            <a:r>
              <a:rPr sz="4275" b="1">
                <a:solidFill>
                  <a:srgbClr val="2B775C"/>
                </a:solidFill>
                <a:latin typeface="Arial"/>
                <a:ea typeface="Arial"/>
                <a:cs typeface="Arial"/>
              </a:rPr>
              <a:t>212</a:t>
            </a:r>
          </a:p>
        </p:txBody>
      </p:sp>
      <p:sp>
        <p:nvSpPr>
          <p:cNvPr id="9" name="stat-l-2">
            <a:extLst xmlns:a="http://schemas.openxmlformats.org/drawingml/2006/main">
              <a:ext uri="{FF2B5EF4-FFF2-40B4-BE49-F238E27FC236}">
                <a16:creationId xmlns:a16="http://schemas.microsoft.com/office/drawing/2014/main" id="{FA13C461-929E-4C47-9713-BD79FBBC7420}"/>
              </a:ext>
            </a:extLst>
          </p:cNvPr>
          <p:cNvSpPr>
            <a:spLocks xmlns:a="http://schemas.openxmlformats.org/drawingml/2006/main" noGrp="1"/>
          </p:cNvSpPr>
          <p:nvPr/>
        </p:nvSpPr>
        <p:spPr>
          <a:xfrm xmlns:a="http://schemas.openxmlformats.org/drawingml/2006/main">
            <a:off x="6305550" y="2667000"/>
            <a:ext cx="2533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5D"/>
                </a:solidFill>
                <a:latin typeface="Arial"/>
                <a:ea typeface="Arial"/>
                <a:cs typeface="Arial"/>
              </a:defRPr>
            </a:defPPr>
          </a:lstStyle>
          <a:p xmlns:a="http://schemas.openxmlformats.org/drawingml/2006/main">
            <a:pPr algn="l">
              <a:lnSpc>
                <a:spcPct val="110000"/>
              </a:lnSpc>
              <a:buNone/>
              <a:defRPr sz="1950" b="0">
                <a:solidFill>
                  <a:srgbClr val="52655D"/>
                </a:solidFill>
                <a:latin typeface="Arial"/>
                <a:ea typeface="Arial"/>
                <a:cs typeface="Arial"/>
              </a:defRPr>
            </a:pPr>
            <a:r>
              <a:rPr sz="1950" b="0">
                <a:solidFill>
                  <a:srgbClr val="52655D"/>
                </a:solidFill>
                <a:latin typeface="Arial"/>
                <a:ea typeface="Arial"/>
                <a:cs typeface="Arial"/>
              </a:rPr>
              <a:t>state–district pairs</a:t>
            </a:r>
          </a:p>
        </p:txBody>
      </p:sp>
      <p:sp>
        <p:nvSpPr>
          <p:cNvPr id="10" name="stat-v-3">
            <a:extLst xmlns:a="http://schemas.openxmlformats.org/drawingml/2006/main">
              <a:ext uri="{FF2B5EF4-FFF2-40B4-BE49-F238E27FC236}">
                <a16:creationId xmlns:a16="http://schemas.microsoft.com/office/drawing/2014/main" id="{F71E5E08-33D6-4323-9160-D8B97A5E3610}"/>
              </a:ext>
            </a:extLst>
          </p:cNvPr>
          <p:cNvSpPr>
            <a:spLocks xmlns:a="http://schemas.openxmlformats.org/drawingml/2006/main" noGrp="1"/>
          </p:cNvSpPr>
          <p:nvPr/>
        </p:nvSpPr>
        <p:spPr>
          <a:xfrm xmlns:a="http://schemas.openxmlformats.org/drawingml/2006/main">
            <a:off x="9163050" y="1819275"/>
            <a:ext cx="25336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2B775C"/>
                </a:solidFill>
                <a:latin typeface="Arial"/>
                <a:ea typeface="Arial"/>
                <a:cs typeface="Arial"/>
              </a:defRPr>
            </a:defPPr>
          </a:lstStyle>
          <a:p xmlns:a="http://schemas.openxmlformats.org/drawingml/2006/main">
            <a:pPr algn="l">
              <a:lnSpc>
                <a:spcPct val="110000"/>
              </a:lnSpc>
              <a:buNone/>
              <a:defRPr sz="4275" b="1">
                <a:solidFill>
                  <a:srgbClr val="2B775C"/>
                </a:solidFill>
                <a:latin typeface="Arial"/>
                <a:ea typeface="Arial"/>
                <a:cs typeface="Arial"/>
              </a:defRPr>
            </a:pPr>
            <a:r>
              <a:rPr sz="4275" b="1">
                <a:solidFill>
                  <a:srgbClr val="2B775C"/>
                </a:solidFill>
                <a:latin typeface="Arial"/>
                <a:ea typeface="Arial"/>
                <a:cs typeface="Arial"/>
              </a:rPr>
              <a:t>45</a:t>
            </a:r>
          </a:p>
        </p:txBody>
      </p:sp>
      <p:sp>
        <p:nvSpPr>
          <p:cNvPr id="11" name="stat-l-3">
            <a:extLst xmlns:a="http://schemas.openxmlformats.org/drawingml/2006/main">
              <a:ext uri="{FF2B5EF4-FFF2-40B4-BE49-F238E27FC236}">
                <a16:creationId xmlns:a16="http://schemas.microsoft.com/office/drawing/2014/main" id="{739156C1-4B68-46C9-B9AD-7BFFD9C401F2}"/>
              </a:ext>
            </a:extLst>
          </p:cNvPr>
          <p:cNvSpPr>
            <a:spLocks xmlns:a="http://schemas.openxmlformats.org/drawingml/2006/main" noGrp="1"/>
          </p:cNvSpPr>
          <p:nvPr/>
        </p:nvSpPr>
        <p:spPr>
          <a:xfrm xmlns:a="http://schemas.openxmlformats.org/drawingml/2006/main">
            <a:off x="9163050" y="2667000"/>
            <a:ext cx="2533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5D"/>
                </a:solidFill>
                <a:latin typeface="Arial"/>
                <a:ea typeface="Arial"/>
                <a:cs typeface="Arial"/>
              </a:defRPr>
            </a:defPPr>
          </a:lstStyle>
          <a:p xmlns:a="http://schemas.openxmlformats.org/drawingml/2006/main">
            <a:pPr algn="l">
              <a:lnSpc>
                <a:spcPct val="110000"/>
              </a:lnSpc>
              <a:buNone/>
              <a:defRPr sz="1950" b="0">
                <a:solidFill>
                  <a:srgbClr val="52655D"/>
                </a:solidFill>
                <a:latin typeface="Arial"/>
                <a:ea typeface="Arial"/>
                <a:cs typeface="Arial"/>
              </a:defRPr>
            </a:pPr>
            <a:r>
              <a:rPr sz="1950" b="0">
                <a:solidFill>
                  <a:srgbClr val="52655D"/>
                </a:solidFill>
                <a:latin typeface="Arial"/>
                <a:ea typeface="Arial"/>
                <a:cs typeface="Arial"/>
              </a:rPr>
              <a:t>crop types</a:t>
            </a:r>
          </a:p>
        </p:txBody>
      </p:sp>
      <p:sp>
        <p:nvSpPr>
          <p:cNvPr id="12" name="dataset-rule">
            <a:extLst xmlns:a="http://schemas.openxmlformats.org/drawingml/2006/main">
              <a:ext uri="{FF2B5EF4-FFF2-40B4-BE49-F238E27FC236}">
                <a16:creationId xmlns:a16="http://schemas.microsoft.com/office/drawing/2014/main" id="{81607C46-CB09-4D31-956A-07A8045C4961}"/>
              </a:ext>
            </a:extLst>
          </p:cNvPr>
          <p:cNvSpPr>
            <a:spLocks xmlns:a="http://schemas.openxmlformats.org/drawingml/2006/main" noGrp="1"/>
          </p:cNvSpPr>
          <p:nvPr/>
        </p:nvSpPr>
        <p:spPr>
          <a:xfrm xmlns:a="http://schemas.openxmlformats.org/drawingml/2006/main">
            <a:off x="590550" y="3267075"/>
            <a:ext cx="11001375" cy="0"/>
          </a:xfrm>
          <a:prstGeom xmlns:a="http://schemas.openxmlformats.org/drawingml/2006/main" prst="line">
            <a:avLst/>
          </a:prstGeom>
          <a:noFill xmlns:a="http://schemas.openxmlformats.org/drawingml/2006/main"/>
          <a:ln xmlns:a="http://schemas.openxmlformats.org/drawingml/2006/main" w="13335">
            <a:solidFill>
              <a:srgbClr val="CAD3C6"/>
            </a:solidFill>
            <a:prstDash val="solid"/>
          </a:ln>
        </p:spPr>
      </p:sp>
      <p:sp>
        <p:nvSpPr>
          <p:cNvPr id="13" name="features-h">
            <a:extLst xmlns:a="http://schemas.openxmlformats.org/drawingml/2006/main">
              <a:ext uri="{FF2B5EF4-FFF2-40B4-BE49-F238E27FC236}">
                <a16:creationId xmlns:a16="http://schemas.microsoft.com/office/drawing/2014/main" id="{F7EDE93C-4476-40C4-A58A-B63E69BC7F1F}"/>
              </a:ext>
            </a:extLst>
          </p:cNvPr>
          <p:cNvSpPr>
            <a:spLocks xmlns:a="http://schemas.openxmlformats.org/drawingml/2006/main" noGrp="1"/>
          </p:cNvSpPr>
          <p:nvPr/>
        </p:nvSpPr>
        <p:spPr>
          <a:xfrm xmlns:a="http://schemas.openxmlformats.org/drawingml/2006/main">
            <a:off x="590550" y="35433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Inputs</a:t>
            </a:r>
          </a:p>
        </p:txBody>
      </p:sp>
      <p:sp>
        <p:nvSpPr>
          <p:cNvPr id="14" name="features-b">
            <a:extLst xmlns:a="http://schemas.openxmlformats.org/drawingml/2006/main">
              <a:ext uri="{FF2B5EF4-FFF2-40B4-BE49-F238E27FC236}">
                <a16:creationId xmlns:a16="http://schemas.microsoft.com/office/drawing/2014/main" id="{59ABA57C-8B75-4053-8301-04E314430C0C}"/>
              </a:ext>
            </a:extLst>
          </p:cNvPr>
          <p:cNvSpPr>
            <a:spLocks xmlns:a="http://schemas.openxmlformats.org/drawingml/2006/main" noGrp="1"/>
          </p:cNvSpPr>
          <p:nvPr/>
        </p:nvSpPr>
        <p:spPr>
          <a:xfrm xmlns:a="http://schemas.openxmlformats.org/drawingml/2006/main">
            <a:off x="590550" y="4010025"/>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Historical yield, rainfall, irrigation and soil indices</a:t>
            </a:r>
          </a:p>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State, district, crop and planting season</a:t>
            </a:r>
          </a:p>
        </p:txBody>
      </p:sp>
      <p:sp>
        <p:nvSpPr>
          <p:cNvPr id="15" name="target-h">
            <a:extLst xmlns:a="http://schemas.openxmlformats.org/drawingml/2006/main">
              <a:ext uri="{FF2B5EF4-FFF2-40B4-BE49-F238E27FC236}">
                <a16:creationId xmlns:a16="http://schemas.microsoft.com/office/drawing/2014/main" id="{8EE45FC5-FC51-4939-92AD-1A26DEEE1F6C}"/>
              </a:ext>
            </a:extLst>
          </p:cNvPr>
          <p:cNvSpPr>
            <a:spLocks xmlns:a="http://schemas.openxmlformats.org/drawingml/2006/main" noGrp="1"/>
          </p:cNvSpPr>
          <p:nvPr/>
        </p:nvSpPr>
        <p:spPr>
          <a:xfrm xmlns:a="http://schemas.openxmlformats.org/drawingml/2006/main">
            <a:off x="8010525" y="3543300"/>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Target</a:t>
            </a:r>
          </a:p>
        </p:txBody>
      </p:sp>
      <p:sp>
        <p:nvSpPr>
          <p:cNvPr id="16" name="target-b">
            <a:extLst xmlns:a="http://schemas.openxmlformats.org/drawingml/2006/main">
              <a:ext uri="{FF2B5EF4-FFF2-40B4-BE49-F238E27FC236}">
                <a16:creationId xmlns:a16="http://schemas.microsoft.com/office/drawing/2014/main" id="{744A7019-8288-4B77-8721-7C1533B489B0}"/>
              </a:ext>
            </a:extLst>
          </p:cNvPr>
          <p:cNvSpPr>
            <a:spLocks xmlns:a="http://schemas.openxmlformats.org/drawingml/2006/main" noGrp="1"/>
          </p:cNvSpPr>
          <p:nvPr/>
        </p:nvSpPr>
        <p:spPr>
          <a:xfrm xmlns:a="http://schemas.openxmlformats.org/drawingml/2006/main">
            <a:off x="8010525" y="4010025"/>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Yield in tonnes per hectare</a:t>
            </a:r>
          </a:p>
        </p:txBody>
      </p:sp>
      <p:sp>
        <p:nvSpPr>
          <p:cNvPr id="17" name="states">
            <a:extLst xmlns:a="http://schemas.openxmlformats.org/drawingml/2006/main">
              <a:ext uri="{FF2B5EF4-FFF2-40B4-BE49-F238E27FC236}">
                <a16:creationId xmlns:a16="http://schemas.microsoft.com/office/drawing/2014/main" id="{3E7F2F5B-0BBC-4620-AB47-0295E0E46649}"/>
              </a:ext>
            </a:extLst>
          </p:cNvPr>
          <p:cNvSpPr>
            <a:spLocks xmlns:a="http://schemas.openxmlformats.org/drawingml/2006/main" noGrp="1"/>
          </p:cNvSpPr>
          <p:nvPr/>
        </p:nvSpPr>
        <p:spPr>
          <a:xfrm xmlns:a="http://schemas.openxmlformats.org/drawingml/2006/main">
            <a:off x="590550" y="5057775"/>
            <a:ext cx="106680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3A32"/>
                </a:solidFill>
                <a:latin typeface="Arial"/>
                <a:ea typeface="Arial"/>
                <a:cs typeface="Arial"/>
              </a:defRPr>
            </a:defPPr>
          </a:lstStyle>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Madhya Pradesh   Maharashtra   Punjab</a:t>
            </a:r>
          </a:p>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Tamil Nadu   Uttar Pradesh</a:t>
            </a:r>
          </a:p>
        </p:txBody>
      </p:sp>
      <p:sp>
        <p:nvSpPr>
          <p:cNvPr id="18" name="footnote-5">
            <a:extLst xmlns:a="http://schemas.openxmlformats.org/drawingml/2006/main">
              <a:ext uri="{FF2B5EF4-FFF2-40B4-BE49-F238E27FC236}">
                <a16:creationId xmlns:a16="http://schemas.microsoft.com/office/drawing/2014/main" id="{8ECB6521-B9B7-41A2-8D16-F789A2252910}"/>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Direct source: project CSV. Economic prices and costs include modeled proxies.</a:t>
            </a:r>
          </a:p>
        </p:txBody>
      </p:sp>
    </p:spTree>
    <p:extLst>
      <p:ext uri="{BB962C8B-B14F-4D97-AF65-F5344CB8AC3E}">
        <p14:creationId xmlns:p14="http://schemas.microsoft.com/office/powerpoint/2010/main" val="1839571968"/>
      </p:ext>
    </p:extLst>
  </p:cSld>
</p:sld>
</file>

<file path=ppt/slides/slide6.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3FCF8A1-8186-4881-9FD0-E379642313FE}"/>
              </a:ext>
            </a:extLst>
          </p:cNvPr>
          <p:cNvCxnSpPr>
            <a:stCxn xmlns:a="http://schemas.openxmlformats.org/drawingml/2006/main" id="13" idx="3"/>
            <a:endCxn xmlns:a="http://schemas.openxmlformats.org/drawingml/2006/main" id="16" idx="1"/>
          </p:cNvCxnSpPr>
          <p:nvPr/>
        </p:nvCxnSpPr>
        <p:spPr>
          <a:xfrm xmlns:a="http://schemas.openxmlformats.org/drawingml/2006/main">
            <a:off x="7658100" y="5381625"/>
            <a:ext cx="86677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DC7733A-FBF2-4848-83DD-7AF41489C3B0}"/>
              </a:ext>
            </a:extLst>
          </p:cNvPr>
          <p:cNvCxnSpPr>
            <a:stCxn xmlns:a="http://schemas.openxmlformats.org/drawingml/2006/main" id="10" idx="3"/>
            <a:endCxn xmlns:a="http://schemas.openxmlformats.org/drawingml/2006/main" id="13" idx="1"/>
          </p:cNvCxnSpPr>
          <p:nvPr/>
        </p:nvCxnSpPr>
        <p:spPr>
          <a:xfrm xmlns:a="http://schemas.openxmlformats.org/drawingml/2006/main">
            <a:off x="3514725" y="5381625"/>
            <a:ext cx="79057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sp>
        <p:nvSpPr>
          <p:cNvPr id="22" name="title-6">
            <a:extLst xmlns:a="http://schemas.openxmlformats.org/drawingml/2006/main">
              <a:ext uri="{FF2B5EF4-FFF2-40B4-BE49-F238E27FC236}">
                <a16:creationId xmlns:a16="http://schemas.microsoft.com/office/drawing/2014/main" id="{939DCD94-38E0-4DBA-B3C4-F4D41C3A3211}"/>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Information available before sowing</a:t>
            </a:r>
          </a:p>
        </p:txBody>
      </p:sp>
      <p:sp>
        <p:nvSpPr>
          <p:cNvPr id="2" name="subtitle-6">
            <a:extLst xmlns:a="http://schemas.openxmlformats.org/drawingml/2006/main">
              <a:ext uri="{FF2B5EF4-FFF2-40B4-BE49-F238E27FC236}">
                <a16:creationId xmlns:a16="http://schemas.microsoft.com/office/drawing/2014/main" id="{8DC2E9AD-C28B-4865-A606-9FD8AF5C2C3A}"/>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Historical isolation is part of preprocessing, not just the train/test split</a:t>
            </a:r>
          </a:p>
        </p:txBody>
      </p:sp>
      <p:sp>
        <p:nvSpPr>
          <p:cNvPr id="3" name="page-6">
            <a:extLst xmlns:a="http://schemas.openxmlformats.org/drawingml/2006/main">
              <a:ext uri="{FF2B5EF4-FFF2-40B4-BE49-F238E27FC236}">
                <a16:creationId xmlns:a16="http://schemas.microsoft.com/office/drawing/2014/main" id="{4A39241C-0295-4C3A-9724-1C88F094458D}"/>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06</a:t>
            </a:r>
          </a:p>
        </p:txBody>
      </p:sp>
      <p:sp>
        <p:nvSpPr>
          <p:cNvPr id="4" name="prep-0-h">
            <a:extLst xmlns:a="http://schemas.openxmlformats.org/drawingml/2006/main">
              <a:ext uri="{FF2B5EF4-FFF2-40B4-BE49-F238E27FC236}">
                <a16:creationId xmlns:a16="http://schemas.microsoft.com/office/drawing/2014/main" id="{378363A5-A933-4D01-80A2-D2401AFC6278}"/>
              </a:ext>
            </a:extLst>
          </p:cNvPr>
          <p:cNvSpPr>
            <a:spLocks xmlns:a="http://schemas.openxmlformats.org/drawingml/2006/main" noGrp="1"/>
          </p:cNvSpPr>
          <p:nvPr/>
        </p:nvSpPr>
        <p:spPr>
          <a:xfrm xmlns:a="http://schemas.openxmlformats.org/drawingml/2006/main">
            <a:off x="609600" y="17811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Key integrity</a:t>
            </a:r>
          </a:p>
        </p:txBody>
      </p:sp>
      <p:sp>
        <p:nvSpPr>
          <p:cNvPr id="5" name="prep-0-b">
            <a:extLst xmlns:a="http://schemas.openxmlformats.org/drawingml/2006/main">
              <a:ext uri="{FF2B5EF4-FFF2-40B4-BE49-F238E27FC236}">
                <a16:creationId xmlns:a16="http://schemas.microsoft.com/office/drawing/2014/main" id="{8BC96F6B-57B3-4A1C-A435-02312293A36C}"/>
              </a:ext>
            </a:extLst>
          </p:cNvPr>
          <p:cNvSpPr>
            <a:spLocks xmlns:a="http://schemas.openxmlformats.org/drawingml/2006/main" noGrp="1"/>
          </p:cNvSpPr>
          <p:nvPr/>
        </p:nvSpPr>
        <p:spPr>
          <a:xfrm xmlns:a="http://schemas.openxmlformats.org/drawingml/2006/main">
            <a:off x="609600" y="2247900"/>
            <a:ext cx="1076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Remove duplicates and resolve colliding records.</a:t>
            </a:r>
          </a:p>
        </p:txBody>
      </p:sp>
      <p:sp>
        <p:nvSpPr>
          <p:cNvPr id="6" name="prep-1-h">
            <a:extLst xmlns:a="http://schemas.openxmlformats.org/drawingml/2006/main">
              <a:ext uri="{FF2B5EF4-FFF2-40B4-BE49-F238E27FC236}">
                <a16:creationId xmlns:a16="http://schemas.microsoft.com/office/drawing/2014/main" id="{F2A871B4-829D-450D-B163-93BD4F2DDFEE}"/>
              </a:ext>
            </a:extLst>
          </p:cNvPr>
          <p:cNvSpPr>
            <a:spLocks xmlns:a="http://schemas.openxmlformats.org/drawingml/2006/main" noGrp="1"/>
          </p:cNvSpPr>
          <p:nvPr/>
        </p:nvSpPr>
        <p:spPr>
          <a:xfrm xmlns:a="http://schemas.openxmlformats.org/drawingml/2006/main">
            <a:off x="609600" y="28384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Missing values</a:t>
            </a:r>
          </a:p>
        </p:txBody>
      </p:sp>
      <p:sp>
        <p:nvSpPr>
          <p:cNvPr id="7" name="prep-1-b">
            <a:extLst xmlns:a="http://schemas.openxmlformats.org/drawingml/2006/main">
              <a:ext uri="{FF2B5EF4-FFF2-40B4-BE49-F238E27FC236}">
                <a16:creationId xmlns:a16="http://schemas.microsoft.com/office/drawing/2014/main" id="{0984C54E-3004-45EE-BF29-31B532CFE83E}"/>
              </a:ext>
            </a:extLst>
          </p:cNvPr>
          <p:cNvSpPr>
            <a:spLocks xmlns:a="http://schemas.openxmlformats.org/drawingml/2006/main" noGrp="1"/>
          </p:cNvSpPr>
          <p:nvPr/>
        </p:nvSpPr>
        <p:spPr>
          <a:xfrm xmlns:a="http://schemas.openxmlformats.org/drawingml/2006/main">
            <a:off x="609600" y="3305175"/>
            <a:ext cx="1076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Use training-period imputation and preserve flags.</a:t>
            </a:r>
          </a:p>
        </p:txBody>
      </p:sp>
      <p:sp>
        <p:nvSpPr>
          <p:cNvPr id="8" name="prep-2-h">
            <a:extLst xmlns:a="http://schemas.openxmlformats.org/drawingml/2006/main">
              <a:ext uri="{FF2B5EF4-FFF2-40B4-BE49-F238E27FC236}">
                <a16:creationId xmlns:a16="http://schemas.microsoft.com/office/drawing/2014/main" id="{307089D8-DE34-4651-8F4A-4D8B8C6B9788}"/>
              </a:ext>
            </a:extLst>
          </p:cNvPr>
          <p:cNvSpPr>
            <a:spLocks xmlns:a="http://schemas.openxmlformats.org/drawingml/2006/main" noGrp="1"/>
          </p:cNvSpPr>
          <p:nvPr/>
        </p:nvSpPr>
        <p:spPr>
          <a:xfrm xmlns:a="http://schemas.openxmlformats.org/drawingml/2006/main">
            <a:off x="609600" y="389572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Physical consistency</a:t>
            </a:r>
          </a:p>
        </p:txBody>
      </p:sp>
      <p:sp>
        <p:nvSpPr>
          <p:cNvPr id="9" name="prep-2-b">
            <a:extLst xmlns:a="http://schemas.openxmlformats.org/drawingml/2006/main">
              <a:ext uri="{FF2B5EF4-FFF2-40B4-BE49-F238E27FC236}">
                <a16:creationId xmlns:a16="http://schemas.microsoft.com/office/drawing/2014/main" id="{07B1A918-AFD4-4B96-8F12-C76F49F1BE36}"/>
              </a:ext>
            </a:extLst>
          </p:cNvPr>
          <p:cNvSpPr>
            <a:spLocks xmlns:a="http://schemas.openxmlformats.org/drawingml/2006/main" noGrp="1"/>
          </p:cNvSpPr>
          <p:nvPr/>
        </p:nvSpPr>
        <p:spPr>
          <a:xfrm xmlns:a="http://schemas.openxmlformats.org/drawingml/2006/main">
            <a:off x="609600" y="4362450"/>
            <a:ext cx="1076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Check units, irrigation denominators and yield ranges.</a:t>
            </a:r>
          </a:p>
        </p:txBody>
      </p:sp>
      <p:sp>
        <p:nvSpPr>
          <p:cNvPr id="10" name="lag-history">
            <a:extLst xmlns:a="http://schemas.openxmlformats.org/drawingml/2006/main">
              <a:ext uri="{FF2B5EF4-FFF2-40B4-BE49-F238E27FC236}">
                <a16:creationId xmlns:a16="http://schemas.microsoft.com/office/drawing/2014/main" id="{21E0961E-5456-40D6-9991-0F6EBEEB1D5F}"/>
              </a:ext>
            </a:extLst>
          </p:cNvPr>
          <p:cNvSpPr>
            <a:spLocks xmlns:a="http://schemas.openxmlformats.org/drawingml/2006/main" noGrp="1"/>
          </p:cNvSpPr>
          <p:nvPr/>
        </p:nvSpPr>
        <p:spPr>
          <a:xfrm xmlns:a="http://schemas.openxmlformats.org/drawingml/2006/main">
            <a:off x="609600" y="4914900"/>
            <a:ext cx="2905125" cy="93345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1" name="lag-history-title">
            <a:extLst xmlns:a="http://schemas.openxmlformats.org/drawingml/2006/main">
              <a:ext uri="{FF2B5EF4-FFF2-40B4-BE49-F238E27FC236}">
                <a16:creationId xmlns:a16="http://schemas.microsoft.com/office/drawing/2014/main" id="{57214D95-67EE-472F-A27A-F1C48246867F}"/>
              </a:ext>
            </a:extLst>
          </p:cNvPr>
          <p:cNvSpPr>
            <a:spLocks xmlns:a="http://schemas.openxmlformats.org/drawingml/2006/main" noGrp="1"/>
          </p:cNvSpPr>
          <p:nvPr/>
        </p:nvSpPr>
        <p:spPr>
          <a:xfrm xmlns:a="http://schemas.openxmlformats.org/drawingml/2006/main">
            <a:off x="752475" y="5057775"/>
            <a:ext cx="261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Past observations</a:t>
            </a:r>
          </a:p>
        </p:txBody>
      </p:sp>
      <p:sp>
        <p:nvSpPr>
          <p:cNvPr id="12" name="lag-history-sub">
            <a:extLst xmlns:a="http://schemas.openxmlformats.org/drawingml/2006/main">
              <a:ext uri="{FF2B5EF4-FFF2-40B4-BE49-F238E27FC236}">
                <a16:creationId xmlns:a16="http://schemas.microsoft.com/office/drawing/2014/main" id="{3B5CF2E0-1E85-4CFD-906B-3C6199DA8097}"/>
              </a:ext>
            </a:extLst>
          </p:cNvPr>
          <p:cNvSpPr>
            <a:spLocks xmlns:a="http://schemas.openxmlformats.org/drawingml/2006/main" noGrp="1"/>
          </p:cNvSpPr>
          <p:nvPr/>
        </p:nvSpPr>
        <p:spPr>
          <a:xfrm xmlns:a="http://schemas.openxmlformats.org/drawingml/2006/main">
            <a:off x="752475" y="546735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Same state + district</a:t>
            </a:r>
          </a:p>
        </p:txBody>
      </p:sp>
      <p:sp>
        <p:nvSpPr>
          <p:cNvPr id="13" name="lag-features">
            <a:extLst xmlns:a="http://schemas.openxmlformats.org/drawingml/2006/main">
              <a:ext uri="{FF2B5EF4-FFF2-40B4-BE49-F238E27FC236}">
                <a16:creationId xmlns:a16="http://schemas.microsoft.com/office/drawing/2014/main" id="{36055E53-011C-4C39-8755-7EA42C44BCD3}"/>
              </a:ext>
            </a:extLst>
          </p:cNvPr>
          <p:cNvSpPr>
            <a:spLocks xmlns:a="http://schemas.openxmlformats.org/drawingml/2006/main" noGrp="1"/>
          </p:cNvSpPr>
          <p:nvPr/>
        </p:nvSpPr>
        <p:spPr>
          <a:xfrm xmlns:a="http://schemas.openxmlformats.org/drawingml/2006/main">
            <a:off x="4305300" y="4914900"/>
            <a:ext cx="3352800" cy="933450"/>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4" name="lag-features-title">
            <a:extLst xmlns:a="http://schemas.openxmlformats.org/drawingml/2006/main">
              <a:ext uri="{FF2B5EF4-FFF2-40B4-BE49-F238E27FC236}">
                <a16:creationId xmlns:a16="http://schemas.microsoft.com/office/drawing/2014/main" id="{B59EDA9A-6C8E-4B76-8657-7E1E0BE01BA6}"/>
              </a:ext>
            </a:extLst>
          </p:cNvPr>
          <p:cNvSpPr>
            <a:spLocks xmlns:a="http://schemas.openxmlformats.org/drawingml/2006/main" noGrp="1"/>
          </p:cNvSpPr>
          <p:nvPr/>
        </p:nvSpPr>
        <p:spPr>
          <a:xfrm xmlns:a="http://schemas.openxmlformats.org/drawingml/2006/main">
            <a:off x="4448175" y="5057775"/>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Trailing features</a:t>
            </a:r>
          </a:p>
        </p:txBody>
      </p:sp>
      <p:sp>
        <p:nvSpPr>
          <p:cNvPr id="15" name="lag-features-sub">
            <a:extLst xmlns:a="http://schemas.openxmlformats.org/drawingml/2006/main">
              <a:ext uri="{FF2B5EF4-FFF2-40B4-BE49-F238E27FC236}">
                <a16:creationId xmlns:a16="http://schemas.microsoft.com/office/drawing/2014/main" id="{82A5E388-740F-4A0A-AABD-1D52CE35803C}"/>
              </a:ext>
            </a:extLst>
          </p:cNvPr>
          <p:cNvSpPr>
            <a:spLocks xmlns:a="http://schemas.openxmlformats.org/drawingml/2006/main" noGrp="1"/>
          </p:cNvSpPr>
          <p:nvPr/>
        </p:nvSpPr>
        <p:spPr>
          <a:xfrm xmlns:a="http://schemas.openxmlformats.org/drawingml/2006/main">
            <a:off x="4448175" y="5467350"/>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Past years only</a:t>
            </a:r>
          </a:p>
        </p:txBody>
      </p:sp>
      <p:sp>
        <p:nvSpPr>
          <p:cNvPr id="16" name="lag-decision">
            <a:extLst xmlns:a="http://schemas.openxmlformats.org/drawingml/2006/main">
              <a:ext uri="{FF2B5EF4-FFF2-40B4-BE49-F238E27FC236}">
                <a16:creationId xmlns:a16="http://schemas.microsoft.com/office/drawing/2014/main" id="{48B789B2-D2EA-4026-8C23-F58090CB750C}"/>
              </a:ext>
            </a:extLst>
          </p:cNvPr>
          <p:cNvSpPr>
            <a:spLocks xmlns:a="http://schemas.openxmlformats.org/drawingml/2006/main" noGrp="1"/>
          </p:cNvSpPr>
          <p:nvPr/>
        </p:nvSpPr>
        <p:spPr>
          <a:xfrm xmlns:a="http://schemas.openxmlformats.org/drawingml/2006/main">
            <a:off x="8524875" y="4914900"/>
            <a:ext cx="3048000" cy="93345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7" name="lag-decision-title">
            <a:extLst xmlns:a="http://schemas.openxmlformats.org/drawingml/2006/main">
              <a:ext uri="{FF2B5EF4-FFF2-40B4-BE49-F238E27FC236}">
                <a16:creationId xmlns:a16="http://schemas.microsoft.com/office/drawing/2014/main" id="{B2F5C7C1-27C7-4D00-B374-48C1E16736A8}"/>
              </a:ext>
            </a:extLst>
          </p:cNvPr>
          <p:cNvSpPr>
            <a:spLocks xmlns:a="http://schemas.openxmlformats.org/drawingml/2006/main" noGrp="1"/>
          </p:cNvSpPr>
          <p:nvPr/>
        </p:nvSpPr>
        <p:spPr>
          <a:xfrm xmlns:a="http://schemas.openxmlformats.org/drawingml/2006/main">
            <a:off x="8667750" y="50577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Planting decision</a:t>
            </a:r>
          </a:p>
        </p:txBody>
      </p:sp>
      <p:sp>
        <p:nvSpPr>
          <p:cNvPr id="18" name="lag-decision-sub">
            <a:extLst xmlns:a="http://schemas.openxmlformats.org/drawingml/2006/main">
              <a:ext uri="{FF2B5EF4-FFF2-40B4-BE49-F238E27FC236}">
                <a16:creationId xmlns:a16="http://schemas.microsoft.com/office/drawing/2014/main" id="{FD8C2CFD-5C29-4B1D-A221-5589237DD871}"/>
              </a:ext>
            </a:extLst>
          </p:cNvPr>
          <p:cNvSpPr>
            <a:spLocks xmlns:a="http://schemas.openxmlformats.org/drawingml/2006/main" noGrp="1"/>
          </p:cNvSpPr>
          <p:nvPr/>
        </p:nvSpPr>
        <p:spPr>
          <a:xfrm xmlns:a="http://schemas.openxmlformats.org/drawingml/2006/main">
            <a:off x="8667750" y="546735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As-of date</a:t>
            </a:r>
          </a:p>
        </p:txBody>
      </p:sp>
      <p:sp>
        <p:nvSpPr>
          <p:cNvPr id="21" name="footnote-6">
            <a:extLst xmlns:a="http://schemas.openxmlformats.org/drawingml/2006/main">
              <a:ext uri="{FF2B5EF4-FFF2-40B4-BE49-F238E27FC236}">
                <a16:creationId xmlns:a16="http://schemas.microsoft.com/office/drawing/2014/main" id="{72041564-ED4C-41B6-8644-16E1FC91C62F}"/>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Group keys include state. Future records must not change earlier feature values.</a:t>
            </a:r>
          </a:p>
        </p:txBody>
      </p:sp>
    </p:spTree>
    <p:extLst>
      <p:ext uri="{BB962C8B-B14F-4D97-AF65-F5344CB8AC3E}">
        <p14:creationId xmlns:p14="http://schemas.microsoft.com/office/powerpoint/2010/main" val="1235287073"/>
      </p:ext>
    </p:extLst>
  </p:cSld>
</p:sld>
</file>

<file path=ppt/slides/slide7.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E200782A-499F-4CB0-B931-9B5B288E52D9}"/>
              </a:ext>
            </a:extLst>
          </p:cNvPr>
          <p:cNvCxnSpPr>
            <a:stCxn xmlns:a="http://schemas.openxmlformats.org/drawingml/2006/main" id="10" idx="3"/>
            <a:endCxn xmlns:a="http://schemas.openxmlformats.org/drawingml/2006/main" id="13" idx="1"/>
          </p:cNvCxnSpPr>
          <p:nvPr/>
        </p:nvCxnSpPr>
        <p:spPr>
          <a:xfrm xmlns:a="http://schemas.openxmlformats.org/drawingml/2006/main">
            <a:off x="7648575" y="3105150"/>
            <a:ext cx="838200"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A48C1733-E854-4ECB-A42B-E6886063F2F1}"/>
              </a:ext>
            </a:extLst>
          </p:cNvPr>
          <p:cNvCxnSpPr>
            <a:stCxn xmlns:a="http://schemas.openxmlformats.org/drawingml/2006/main" id="7" idx="3"/>
            <a:endCxn xmlns:a="http://schemas.openxmlformats.org/drawingml/2006/main" id="10" idx="1"/>
          </p:cNvCxnSpPr>
          <p:nvPr/>
        </p:nvCxnSpPr>
        <p:spPr>
          <a:xfrm xmlns:a="http://schemas.openxmlformats.org/drawingml/2006/main">
            <a:off x="3705225" y="3105150"/>
            <a:ext cx="8477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sp>
        <p:nvSpPr>
          <p:cNvPr id="20" name="title-7">
            <a:extLst xmlns:a="http://schemas.openxmlformats.org/drawingml/2006/main">
              <a:ext uri="{FF2B5EF4-FFF2-40B4-BE49-F238E27FC236}">
                <a16:creationId xmlns:a16="http://schemas.microsoft.com/office/drawing/2014/main" id="{00D08B4E-0F7A-43B8-B064-00663BD2A5C1}"/>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Model development and validation</a:t>
            </a:r>
          </a:p>
        </p:txBody>
      </p:sp>
      <p:sp>
        <p:nvSpPr>
          <p:cNvPr id="2" name="subtitle-7">
            <a:extLst xmlns:a="http://schemas.openxmlformats.org/drawingml/2006/main">
              <a:ext uri="{FF2B5EF4-FFF2-40B4-BE49-F238E27FC236}">
                <a16:creationId xmlns:a16="http://schemas.microsoft.com/office/drawing/2014/main" id="{A2AA1B4A-D659-4E9B-8B45-8479BAE3E84A}"/>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LightGBM quantile models handle nonlinear relationships in tabular data</a:t>
            </a:r>
          </a:p>
        </p:txBody>
      </p:sp>
      <p:sp>
        <p:nvSpPr>
          <p:cNvPr id="3" name="page-7">
            <a:extLst xmlns:a="http://schemas.openxmlformats.org/drawingml/2006/main">
              <a:ext uri="{FF2B5EF4-FFF2-40B4-BE49-F238E27FC236}">
                <a16:creationId xmlns:a16="http://schemas.microsoft.com/office/drawing/2014/main" id="{4A261D44-8407-418E-9FE8-A3132FF6F9EB}"/>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07</a:t>
            </a:r>
          </a:p>
        </p:txBody>
      </p:sp>
      <p:sp>
        <p:nvSpPr>
          <p:cNvPr id="4" name="quantile-low">
            <a:extLst xmlns:a="http://schemas.openxmlformats.org/drawingml/2006/main">
              <a:ext uri="{FF2B5EF4-FFF2-40B4-BE49-F238E27FC236}">
                <a16:creationId xmlns:a16="http://schemas.microsoft.com/office/drawing/2014/main" id="{3321AB27-AEAC-42A8-A80B-22BE86C524D5}"/>
              </a:ext>
            </a:extLst>
          </p:cNvPr>
          <p:cNvSpPr>
            <a:spLocks xmlns:a="http://schemas.openxmlformats.org/drawingml/2006/main" noGrp="1"/>
          </p:cNvSpPr>
          <p:nvPr/>
        </p:nvSpPr>
        <p:spPr>
          <a:xfrm xmlns:a="http://schemas.openxmlformats.org/drawingml/2006/main">
            <a:off x="609600" y="1781175"/>
            <a:ext cx="3095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2B775C"/>
                </a:solidFill>
                <a:latin typeface="Arial"/>
                <a:ea typeface="Arial"/>
                <a:cs typeface="Arial"/>
              </a:defRPr>
            </a:defPPr>
          </a:lstStyle>
          <a:p xmlns:a="http://schemas.openxmlformats.org/drawingml/2006/main">
            <a:pPr algn="ctr">
              <a:lnSpc>
                <a:spcPct val="110000"/>
              </a:lnSpc>
              <a:buNone/>
              <a:defRPr sz="2250" b="1">
                <a:solidFill>
                  <a:srgbClr val="2B775C"/>
                </a:solidFill>
                <a:latin typeface="Arial"/>
                <a:ea typeface="Arial"/>
                <a:cs typeface="Arial"/>
              </a:defRPr>
            </a:pPr>
            <a:r>
              <a:rPr sz="2250" b="1">
                <a:solidFill>
                  <a:srgbClr val="2B775C"/>
                </a:solidFill>
                <a:latin typeface="Arial"/>
                <a:ea typeface="Arial"/>
                <a:cs typeface="Arial"/>
              </a:rPr>
              <a:t>Lower 10% model</a:t>
            </a:r>
          </a:p>
        </p:txBody>
      </p:sp>
      <p:sp>
        <p:nvSpPr>
          <p:cNvPr id="5" name="quantile-med">
            <a:extLst xmlns:a="http://schemas.openxmlformats.org/drawingml/2006/main">
              <a:ext uri="{FF2B5EF4-FFF2-40B4-BE49-F238E27FC236}">
                <a16:creationId xmlns:a16="http://schemas.microsoft.com/office/drawing/2014/main" id="{7F75C7D6-594F-423A-A46F-BB40830E18B1}"/>
              </a:ext>
            </a:extLst>
          </p:cNvPr>
          <p:cNvSpPr>
            <a:spLocks xmlns:a="http://schemas.openxmlformats.org/drawingml/2006/main" noGrp="1"/>
          </p:cNvSpPr>
          <p:nvPr/>
        </p:nvSpPr>
        <p:spPr>
          <a:xfrm xmlns:a="http://schemas.openxmlformats.org/drawingml/2006/main">
            <a:off x="4552950" y="1781175"/>
            <a:ext cx="3095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2B775C"/>
                </a:solidFill>
                <a:latin typeface="Arial"/>
                <a:ea typeface="Arial"/>
                <a:cs typeface="Arial"/>
              </a:defRPr>
            </a:defPPr>
          </a:lstStyle>
          <a:p xmlns:a="http://schemas.openxmlformats.org/drawingml/2006/main">
            <a:pPr algn="ctr">
              <a:lnSpc>
                <a:spcPct val="110000"/>
              </a:lnSpc>
              <a:buNone/>
              <a:defRPr sz="2250" b="1">
                <a:solidFill>
                  <a:srgbClr val="2B775C"/>
                </a:solidFill>
                <a:latin typeface="Arial"/>
                <a:ea typeface="Arial"/>
                <a:cs typeface="Arial"/>
              </a:defRPr>
            </a:pPr>
            <a:r>
              <a:rPr sz="2250" b="1">
                <a:solidFill>
                  <a:srgbClr val="2B775C"/>
                </a:solidFill>
                <a:latin typeface="Arial"/>
                <a:ea typeface="Arial"/>
                <a:cs typeface="Arial"/>
              </a:rPr>
              <a:t>Median 50% model</a:t>
            </a:r>
          </a:p>
        </p:txBody>
      </p:sp>
      <p:sp>
        <p:nvSpPr>
          <p:cNvPr id="6" name="quantile-high">
            <a:extLst xmlns:a="http://schemas.openxmlformats.org/drawingml/2006/main">
              <a:ext uri="{FF2B5EF4-FFF2-40B4-BE49-F238E27FC236}">
                <a16:creationId xmlns:a16="http://schemas.microsoft.com/office/drawing/2014/main" id="{DEC55A44-ECAC-42CA-B3C2-67AEF3DACCD5}"/>
              </a:ext>
            </a:extLst>
          </p:cNvPr>
          <p:cNvSpPr>
            <a:spLocks xmlns:a="http://schemas.openxmlformats.org/drawingml/2006/main" noGrp="1"/>
          </p:cNvSpPr>
          <p:nvPr/>
        </p:nvSpPr>
        <p:spPr>
          <a:xfrm xmlns:a="http://schemas.openxmlformats.org/drawingml/2006/main">
            <a:off x="8496300" y="1781175"/>
            <a:ext cx="3095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2B775C"/>
                </a:solidFill>
                <a:latin typeface="Arial"/>
                <a:ea typeface="Arial"/>
                <a:cs typeface="Arial"/>
              </a:defRPr>
            </a:defPPr>
          </a:lstStyle>
          <a:p xmlns:a="http://schemas.openxmlformats.org/drawingml/2006/main">
            <a:pPr algn="ctr">
              <a:lnSpc>
                <a:spcPct val="110000"/>
              </a:lnSpc>
              <a:buNone/>
              <a:defRPr sz="2250" b="1">
                <a:solidFill>
                  <a:srgbClr val="2B775C"/>
                </a:solidFill>
                <a:latin typeface="Arial"/>
                <a:ea typeface="Arial"/>
                <a:cs typeface="Arial"/>
              </a:defRPr>
            </a:pPr>
            <a:r>
              <a:rPr sz="2250" b="1">
                <a:solidFill>
                  <a:srgbClr val="2B775C"/>
                </a:solidFill>
                <a:latin typeface="Arial"/>
                <a:ea typeface="Arial"/>
                <a:cs typeface="Arial"/>
              </a:rPr>
              <a:t>Upper 90% model</a:t>
            </a:r>
          </a:p>
        </p:txBody>
      </p:sp>
      <p:sp>
        <p:nvSpPr>
          <p:cNvPr id="7" name="train">
            <a:extLst xmlns:a="http://schemas.openxmlformats.org/drawingml/2006/main">
              <a:ext uri="{FF2B5EF4-FFF2-40B4-BE49-F238E27FC236}">
                <a16:creationId xmlns:a16="http://schemas.microsoft.com/office/drawing/2014/main" id="{E05BA3EA-3CC5-47B7-922A-08D911D68A45}"/>
              </a:ext>
            </a:extLst>
          </p:cNvPr>
          <p:cNvSpPr>
            <a:spLocks xmlns:a="http://schemas.openxmlformats.org/drawingml/2006/main" noGrp="1"/>
          </p:cNvSpPr>
          <p:nvPr/>
        </p:nvSpPr>
        <p:spPr>
          <a:xfrm xmlns:a="http://schemas.openxmlformats.org/drawingml/2006/main">
            <a:off x="609600" y="2609850"/>
            <a:ext cx="30956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8" name="train-title">
            <a:extLst xmlns:a="http://schemas.openxmlformats.org/drawingml/2006/main">
              <a:ext uri="{FF2B5EF4-FFF2-40B4-BE49-F238E27FC236}">
                <a16:creationId xmlns:a16="http://schemas.microsoft.com/office/drawing/2014/main" id="{4DF7AAA7-8BB7-4770-A4F9-2A5CB0BA0D69}"/>
              </a:ext>
            </a:extLst>
          </p:cNvPr>
          <p:cNvSpPr>
            <a:spLocks xmlns:a="http://schemas.openxmlformats.org/drawingml/2006/main" noGrp="1"/>
          </p:cNvSpPr>
          <p:nvPr/>
        </p:nvSpPr>
        <p:spPr>
          <a:xfrm xmlns:a="http://schemas.openxmlformats.org/drawingml/2006/main">
            <a:off x="752475" y="27527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Training</a:t>
            </a:r>
          </a:p>
        </p:txBody>
      </p:sp>
      <p:sp>
        <p:nvSpPr>
          <p:cNvPr id="9" name="train-sub">
            <a:extLst xmlns:a="http://schemas.openxmlformats.org/drawingml/2006/main">
              <a:ext uri="{FF2B5EF4-FFF2-40B4-BE49-F238E27FC236}">
                <a16:creationId xmlns:a16="http://schemas.microsoft.com/office/drawing/2014/main" id="{7B59EB53-1893-45C2-9C7D-8E31442603A4}"/>
              </a:ext>
            </a:extLst>
          </p:cNvPr>
          <p:cNvSpPr>
            <a:spLocks xmlns:a="http://schemas.openxmlformats.org/drawingml/2006/main" noGrp="1"/>
          </p:cNvSpPr>
          <p:nvPr/>
        </p:nvSpPr>
        <p:spPr>
          <a:xfrm xmlns:a="http://schemas.openxmlformats.org/drawingml/2006/main">
            <a:off x="752475" y="3162300"/>
            <a:ext cx="2809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Years before calibration</a:t>
            </a:r>
          </a:p>
        </p:txBody>
      </p:sp>
      <p:sp>
        <p:nvSpPr>
          <p:cNvPr id="10" name="calib">
            <a:extLst xmlns:a="http://schemas.openxmlformats.org/drawingml/2006/main">
              <a:ext uri="{FF2B5EF4-FFF2-40B4-BE49-F238E27FC236}">
                <a16:creationId xmlns:a16="http://schemas.microsoft.com/office/drawing/2014/main" id="{D3E1D812-F64D-43ED-BD0E-9A2CA20ED3E6}"/>
              </a:ext>
            </a:extLst>
          </p:cNvPr>
          <p:cNvSpPr>
            <a:spLocks xmlns:a="http://schemas.openxmlformats.org/drawingml/2006/main" noGrp="1"/>
          </p:cNvSpPr>
          <p:nvPr/>
        </p:nvSpPr>
        <p:spPr>
          <a:xfrm xmlns:a="http://schemas.openxmlformats.org/drawingml/2006/main">
            <a:off x="4552950" y="2609850"/>
            <a:ext cx="3095625" cy="990600"/>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1" name="calib-title">
            <a:extLst xmlns:a="http://schemas.openxmlformats.org/drawingml/2006/main">
              <a:ext uri="{FF2B5EF4-FFF2-40B4-BE49-F238E27FC236}">
                <a16:creationId xmlns:a16="http://schemas.microsoft.com/office/drawing/2014/main" id="{06F4594D-EFEE-4924-8241-7CCEF04F2FE3}"/>
              </a:ext>
            </a:extLst>
          </p:cNvPr>
          <p:cNvSpPr>
            <a:spLocks xmlns:a="http://schemas.openxmlformats.org/drawingml/2006/main" noGrp="1"/>
          </p:cNvSpPr>
          <p:nvPr/>
        </p:nvSpPr>
        <p:spPr>
          <a:xfrm xmlns:a="http://schemas.openxmlformats.org/drawingml/2006/main">
            <a:off x="4695825" y="27527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Calibration</a:t>
            </a:r>
          </a:p>
        </p:txBody>
      </p:sp>
      <p:sp>
        <p:nvSpPr>
          <p:cNvPr id="12" name="calib-sub">
            <a:extLst xmlns:a="http://schemas.openxmlformats.org/drawingml/2006/main">
              <a:ext uri="{FF2B5EF4-FFF2-40B4-BE49-F238E27FC236}">
                <a16:creationId xmlns:a16="http://schemas.microsoft.com/office/drawing/2014/main" id="{301A6907-09DF-47F1-BD9F-923992965A4E}"/>
              </a:ext>
            </a:extLst>
          </p:cNvPr>
          <p:cNvSpPr>
            <a:spLocks xmlns:a="http://schemas.openxmlformats.org/drawingml/2006/main" noGrp="1"/>
          </p:cNvSpPr>
          <p:nvPr/>
        </p:nvSpPr>
        <p:spPr>
          <a:xfrm xmlns:a="http://schemas.openxmlformats.org/drawingml/2006/main">
            <a:off x="4695825" y="3162300"/>
            <a:ext cx="2809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Most recent past year</a:t>
            </a:r>
          </a:p>
        </p:txBody>
      </p:sp>
      <p:sp>
        <p:nvSpPr>
          <p:cNvPr id="13" name="test">
            <a:extLst xmlns:a="http://schemas.openxmlformats.org/drawingml/2006/main">
              <a:ext uri="{FF2B5EF4-FFF2-40B4-BE49-F238E27FC236}">
                <a16:creationId xmlns:a16="http://schemas.microsoft.com/office/drawing/2014/main" id="{E685DBC7-98F7-45FB-BF1F-A200C8A8B156}"/>
              </a:ext>
            </a:extLst>
          </p:cNvPr>
          <p:cNvSpPr>
            <a:spLocks xmlns:a="http://schemas.openxmlformats.org/drawingml/2006/main" noGrp="1"/>
          </p:cNvSpPr>
          <p:nvPr/>
        </p:nvSpPr>
        <p:spPr>
          <a:xfrm xmlns:a="http://schemas.openxmlformats.org/drawingml/2006/main">
            <a:off x="8486775" y="2609850"/>
            <a:ext cx="30956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4" name="test-title">
            <a:extLst xmlns:a="http://schemas.openxmlformats.org/drawingml/2006/main">
              <a:ext uri="{FF2B5EF4-FFF2-40B4-BE49-F238E27FC236}">
                <a16:creationId xmlns:a16="http://schemas.microsoft.com/office/drawing/2014/main" id="{D6D7D77C-F889-49DC-9669-4651EA9EA847}"/>
              </a:ext>
            </a:extLst>
          </p:cNvPr>
          <p:cNvSpPr>
            <a:spLocks xmlns:a="http://schemas.openxmlformats.org/drawingml/2006/main" noGrp="1"/>
          </p:cNvSpPr>
          <p:nvPr/>
        </p:nvSpPr>
        <p:spPr>
          <a:xfrm xmlns:a="http://schemas.openxmlformats.org/drawingml/2006/main">
            <a:off x="8629650" y="27527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Testing</a:t>
            </a:r>
          </a:p>
        </p:txBody>
      </p:sp>
      <p:sp>
        <p:nvSpPr>
          <p:cNvPr id="15" name="test-sub">
            <a:extLst xmlns:a="http://schemas.openxmlformats.org/drawingml/2006/main">
              <a:ext uri="{FF2B5EF4-FFF2-40B4-BE49-F238E27FC236}">
                <a16:creationId xmlns:a16="http://schemas.microsoft.com/office/drawing/2014/main" id="{962C100D-B56B-42A7-9934-47D53BE56BDA}"/>
              </a:ext>
            </a:extLst>
          </p:cNvPr>
          <p:cNvSpPr>
            <a:spLocks xmlns:a="http://schemas.openxmlformats.org/drawingml/2006/main" noGrp="1"/>
          </p:cNvSpPr>
          <p:nvPr/>
        </p:nvSpPr>
        <p:spPr>
          <a:xfrm xmlns:a="http://schemas.openxmlformats.org/drawingml/2006/main">
            <a:off x="8629650" y="3162300"/>
            <a:ext cx="2809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Next held-out year</a:t>
            </a:r>
          </a:p>
        </p:txBody>
      </p:sp>
      <p:graphicFrame>
        <p:nvGraphicFramePr>
          <p:cNvPr id="18" name="">
            <a:extLst xmlns:a="http://schemas.openxmlformats.org/drawingml/2006/main">
              <a:ext uri="{FF2B5EF4-FFF2-40B4-BE49-F238E27FC236}">
                <a16:creationId xmlns:a16="http://schemas.microsoft.com/office/drawing/2014/main" id="{38D55550-6FDD-4B1E-A723-F4B7580015EC}"/>
              </a:ext>
            </a:extLst>
          </p:cNvPr>
          <p:cNvGraphicFramePr/>
          <p:nvPr/>
        </p:nvGraphicFramePr>
        <p:xfrm>
          <a:off xmlns:a="http://schemas.openxmlformats.org/drawingml/2006/main" x="609600" y="4000500"/>
          <a:ext xmlns:a="http://schemas.openxmlformats.org/drawingml/2006/main" cx="10972800" cy="1152525"/>
        </p:xfrm>
        <a:graphic xmlns:a="http://schemas.openxmlformats.org/drawingml/2006/main">
          <a:graphicData uri="http://schemas.openxmlformats.org/drawingml/2006/table">
            <a:tbl>
              <a:tblPr firstRow="1" bandRow="0"/>
              <a:tblGrid>
                <a:gridCol w="2743200"/>
                <a:gridCol w="2743200"/>
                <a:gridCol w="2743200"/>
                <a:gridCol w="2743200"/>
              </a:tblGrid>
              <a:tr h="576263">
                <a:tc>
                  <a:txBody>
                    <a:bodyPr lIns="142875" tIns="95250" rIns="142875" bIns="95250"/>
                    <a:lstStyle/>
                    <a:p>
                      <a:r>
                        <a:rPr sz="2100" b="1">
                          <a:solidFill>
                            <a:srgbClr val="FFFFFF"/>
                          </a:solidFill>
                          <a:latin typeface="Arial"/>
                          <a:ea typeface="Arial"/>
                          <a:cs typeface="Arial"/>
                        </a:rPr>
                        <a:t>Learning rate</a:t>
                      </a:r>
                    </a:p>
                  </a:txBody>
                  <a:tcPr marL="91440" marR="91440" marT="45720" marB="45720" anchor="ctr">
                    <a:solidFill>
                      <a:srgbClr val="173A32"/>
                    </a:solidFill>
                  </a:tcPr>
                </a:tc>
                <a:tc>
                  <a:txBody>
                    <a:bodyPr lIns="142875" tIns="95250" rIns="142875" bIns="95250"/>
                    <a:lstStyle/>
                    <a:p>
                      <a:r>
                        <a:rPr sz="2100" b="1">
                          <a:solidFill>
                            <a:srgbClr val="FFFFFF"/>
                          </a:solidFill>
                          <a:latin typeface="Arial"/>
                          <a:ea typeface="Arial"/>
                          <a:cs typeface="Arial"/>
                        </a:rPr>
                        <a:t>Leaves</a:t>
                      </a:r>
                    </a:p>
                  </a:txBody>
                  <a:tcPr marL="91440" marR="91440" marT="45720" marB="45720" anchor="ctr">
                    <a:solidFill>
                      <a:srgbClr val="173A32"/>
                    </a:solidFill>
                  </a:tcPr>
                </a:tc>
                <a:tc>
                  <a:txBody>
                    <a:bodyPr lIns="142875" tIns="95250" rIns="142875" bIns="95250"/>
                    <a:lstStyle/>
                    <a:p>
                      <a:r>
                        <a:rPr sz="2100" b="1">
                          <a:solidFill>
                            <a:srgbClr val="FFFFFF"/>
                          </a:solidFill>
                          <a:latin typeface="Arial"/>
                          <a:ea typeface="Arial"/>
                          <a:cs typeface="Arial"/>
                        </a:rPr>
                        <a:t>Max depth</a:t>
                      </a:r>
                    </a:p>
                  </a:txBody>
                  <a:tcPr marL="91440" marR="91440" marT="45720" marB="45720" anchor="ctr">
                    <a:solidFill>
                      <a:srgbClr val="173A32"/>
                    </a:solidFill>
                  </a:tcPr>
                </a:tc>
                <a:tc>
                  <a:txBody>
                    <a:bodyPr lIns="142875" tIns="95250" rIns="142875" bIns="95250"/>
                    <a:lstStyle/>
                    <a:p>
                      <a:r>
                        <a:rPr sz="2100" b="1">
                          <a:solidFill>
                            <a:srgbClr val="FFFFFF"/>
                          </a:solidFill>
                          <a:latin typeface="Arial"/>
                          <a:ea typeface="Arial"/>
                          <a:cs typeface="Arial"/>
                        </a:rPr>
                        <a:t>Boosting rounds</a:t>
                      </a:r>
                    </a:p>
                  </a:txBody>
                  <a:tcPr marL="91440" marR="91440" marT="45720" marB="45720" anchor="ctr">
                    <a:solidFill>
                      <a:srgbClr val="173A32"/>
                    </a:solidFill>
                  </a:tcPr>
                </a:tc>
              </a:tr>
              <a:tr h="576263">
                <a:tc>
                  <a:txBody>
                    <a:bodyPr lIns="142875" tIns="95250" rIns="142875" bIns="95250"/>
                    <a:lstStyle/>
                    <a:p>
                      <a:r>
                        <a:rPr sz="2100" b="0">
                          <a:solidFill>
                            <a:srgbClr val="173A32"/>
                          </a:solidFill>
                          <a:latin typeface="Arial"/>
                          <a:ea typeface="Arial"/>
                          <a:cs typeface="Arial"/>
                        </a:rPr>
                        <a:t>0.05</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31</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8</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500</a:t>
                      </a:r>
                    </a:p>
                  </a:txBody>
                  <a:tcPr marL="91440" marR="91440" marT="45720" marB="45720" anchor="ctr">
                    <a:solidFill>
                      <a:srgbClr val="F5F4EB"/>
                    </a:solidFill>
                  </a:tcPr>
                </a:tc>
              </a:tr>
            </a:tbl>
          </a:graphicData>
        </a:graphic>
      </p:graphicFrame>
      <p:sp>
        <p:nvSpPr>
          <p:cNvPr id="19" name="baseline-note">
            <a:extLst xmlns:a="http://schemas.openxmlformats.org/drawingml/2006/main">
              <a:ext uri="{FF2B5EF4-FFF2-40B4-BE49-F238E27FC236}">
                <a16:creationId xmlns:a16="http://schemas.microsoft.com/office/drawing/2014/main" id="{16F919A3-69ED-4F21-B370-122BAE1EAA4A}"/>
              </a:ext>
            </a:extLst>
          </p:cNvPr>
          <p:cNvSpPr>
            <a:spLocks xmlns:a="http://schemas.openxmlformats.org/drawingml/2006/main" noGrp="1"/>
          </p:cNvSpPr>
          <p:nvPr/>
        </p:nvSpPr>
        <p:spPr>
          <a:xfrm xmlns:a="http://schemas.openxmlformats.org/drawingml/2006/main">
            <a:off x="609600" y="5448300"/>
            <a:ext cx="10953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A32"/>
                </a:solidFill>
                <a:latin typeface="Arial"/>
                <a:ea typeface="Arial"/>
                <a:cs typeface="Arial"/>
              </a:defRPr>
            </a:defPPr>
          </a:lstStyle>
          <a:p xmlns:a="http://schemas.openxmlformats.org/drawingml/2006/main">
            <a:pPr algn="l">
              <a:lnSpc>
                <a:spcPct val="110000"/>
              </a:lnSpc>
              <a:buNone/>
              <a:defRPr sz="2025" b="0">
                <a:solidFill>
                  <a:srgbClr val="173A32"/>
                </a:solidFill>
                <a:latin typeface="Arial"/>
                <a:ea typeface="Arial"/>
                <a:cs typeface="Arial"/>
              </a:defRPr>
            </a:pPr>
            <a:r>
              <a:rPr sz="2025" b="0">
                <a:solidFill>
                  <a:srgbClr val="173A32"/>
                </a:solidFill>
                <a:latin typeface="Arial"/>
                <a:ea typeface="Arial"/>
                <a:cs typeface="Arial"/>
              </a:rPr>
              <a:t>Baseline: trailing three-year yield mean</a:t>
            </a:r>
          </a:p>
          <a:p xmlns:a="http://schemas.openxmlformats.org/drawingml/2006/main">
            <a:pPr algn="l">
              <a:lnSpc>
                <a:spcPct val="110000"/>
              </a:lnSpc>
              <a:buNone/>
              <a:defRPr sz="2025" b="0">
                <a:solidFill>
                  <a:srgbClr val="173A32"/>
                </a:solidFill>
                <a:latin typeface="Arial"/>
                <a:ea typeface="Arial"/>
                <a:cs typeface="Arial"/>
              </a:defRPr>
            </a:pPr>
            <a:r>
              <a:rPr sz="2025" b="0">
                <a:solidFill>
                  <a:srgbClr val="173A32"/>
                </a:solidFill>
                <a:latin typeface="Arial"/>
                <a:ea typeface="Arial"/>
                <a:cs typeface="Arial"/>
              </a:rPr>
              <a:t>Walk-forward reference folds: 2015–2019</a:t>
            </a:r>
          </a:p>
        </p:txBody>
      </p:sp>
    </p:spTree>
    <p:extLst>
      <p:ext uri="{BB962C8B-B14F-4D97-AF65-F5344CB8AC3E}">
        <p14:creationId xmlns:p14="http://schemas.microsoft.com/office/powerpoint/2010/main" val="1939937198"/>
      </p:ext>
    </p:extLst>
  </p:cSld>
</p:sld>
</file>

<file path=ppt/slides/slide8.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2" name="title-8">
            <a:extLst xmlns:a="http://schemas.openxmlformats.org/drawingml/2006/main">
              <a:ext uri="{FF2B5EF4-FFF2-40B4-BE49-F238E27FC236}">
                <a16:creationId xmlns:a16="http://schemas.microsoft.com/office/drawing/2014/main" id="{436804AA-07D5-4708-93B6-05D13BDCC139}"/>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Yield and price become profit scenarios</a:t>
            </a:r>
          </a:p>
        </p:txBody>
      </p:sp>
      <p:sp>
        <p:nvSpPr>
          <p:cNvPr id="2" name="subtitle-8">
            <a:extLst xmlns:a="http://schemas.openxmlformats.org/drawingml/2006/main">
              <a:ext uri="{FF2B5EF4-FFF2-40B4-BE49-F238E27FC236}">
                <a16:creationId xmlns:a16="http://schemas.microsoft.com/office/drawing/2014/main" id="{4FE19BD6-D8F3-4538-98BE-4C3694D62528}"/>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One hectare: yield in tonnes, price in rupees per quintal</a:t>
            </a:r>
          </a:p>
        </p:txBody>
      </p:sp>
      <p:sp>
        <p:nvSpPr>
          <p:cNvPr id="3" name="page-8">
            <a:extLst xmlns:a="http://schemas.openxmlformats.org/drawingml/2006/main">
              <a:ext uri="{FF2B5EF4-FFF2-40B4-BE49-F238E27FC236}">
                <a16:creationId xmlns:a16="http://schemas.microsoft.com/office/drawing/2014/main" id="{3CB16A0A-5739-4AFC-BEDD-D53D70BFB91C}"/>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08</a:t>
            </a:r>
          </a:p>
        </p:txBody>
      </p:sp>
      <p:sp>
        <p:nvSpPr>
          <p:cNvPr id="4" name="profit-eqn">
            <a:extLst xmlns:a="http://schemas.openxmlformats.org/drawingml/2006/main">
              <a:ext uri="{FF2B5EF4-FFF2-40B4-BE49-F238E27FC236}">
                <a16:creationId xmlns:a16="http://schemas.microsoft.com/office/drawing/2014/main" id="{6909036F-95B0-4A06-8933-17856BCABA6C}"/>
              </a:ext>
            </a:extLst>
          </p:cNvPr>
          <p:cNvSpPr>
            <a:spLocks xmlns:a="http://schemas.openxmlformats.org/drawingml/2006/main" noGrp="1"/>
          </p:cNvSpPr>
          <p:nvPr/>
        </p:nvSpPr>
        <p:spPr>
          <a:xfrm xmlns:a="http://schemas.openxmlformats.org/drawingml/2006/main">
            <a:off x="590550" y="18288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73A32"/>
                </a:solidFill>
                <a:latin typeface="Arial"/>
                <a:ea typeface="Arial"/>
                <a:cs typeface="Arial"/>
              </a:defRPr>
            </a:defPPr>
          </a:lstStyle>
          <a:p xmlns:a="http://schemas.openxmlformats.org/drawingml/2006/main">
            <a:pPr algn="l">
              <a:lnSpc>
                <a:spcPct val="110000"/>
              </a:lnSpc>
              <a:buNone/>
              <a:defRPr sz="2775" b="1">
                <a:solidFill>
                  <a:srgbClr val="173A32"/>
                </a:solidFill>
                <a:latin typeface="Arial"/>
                <a:ea typeface="Arial"/>
                <a:cs typeface="Arial"/>
              </a:defRPr>
            </a:pPr>
            <a:r>
              <a:rPr sz="2775" b="1">
                <a:solidFill>
                  <a:srgbClr val="173A32"/>
                </a:solidFill>
                <a:latin typeface="Arial"/>
                <a:ea typeface="Arial"/>
                <a:cs typeface="Arial"/>
              </a:rPr>
              <a:t>Scenario profit = 10 × yield × price − cultivation cost</a:t>
            </a:r>
          </a:p>
        </p:txBody>
      </p:sp>
      <p:sp>
        <p:nvSpPr>
          <p:cNvPr id="5" name="unit-explain">
            <a:extLst xmlns:a="http://schemas.openxmlformats.org/drawingml/2006/main">
              <a:ext uri="{FF2B5EF4-FFF2-40B4-BE49-F238E27FC236}">
                <a16:creationId xmlns:a16="http://schemas.microsoft.com/office/drawing/2014/main" id="{17949102-8CB5-4D2C-AD37-C5AE1CEBEDCD}"/>
              </a:ext>
            </a:extLst>
          </p:cNvPr>
          <p:cNvSpPr>
            <a:spLocks xmlns:a="http://schemas.openxmlformats.org/drawingml/2006/main" noGrp="1"/>
          </p:cNvSpPr>
          <p:nvPr/>
        </p:nvSpPr>
        <p:spPr>
          <a:xfrm xmlns:a="http://schemas.openxmlformats.org/drawingml/2006/main">
            <a:off x="600075" y="2581275"/>
            <a:ext cx="1081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The factor 10 converts tonnes to quintals.</a:t>
            </a:r>
          </a:p>
        </p:txBody>
      </p:sp>
      <p:sp>
        <p:nvSpPr>
          <p:cNvPr id="6" name="econ-rule">
            <a:extLst xmlns:a="http://schemas.openxmlformats.org/drawingml/2006/main">
              <a:ext uri="{FF2B5EF4-FFF2-40B4-BE49-F238E27FC236}">
                <a16:creationId xmlns:a16="http://schemas.microsoft.com/office/drawing/2014/main" id="{3FAFFA73-985E-4F12-BA28-C8AEECAA30D3}"/>
              </a:ext>
            </a:extLst>
          </p:cNvPr>
          <p:cNvSpPr>
            <a:spLocks xmlns:a="http://schemas.openxmlformats.org/drawingml/2006/main" noGrp="1"/>
          </p:cNvSpPr>
          <p:nvPr/>
        </p:nvSpPr>
        <p:spPr>
          <a:xfrm xmlns:a="http://schemas.openxmlformats.org/drawingml/2006/main">
            <a:off x="609600" y="3248025"/>
            <a:ext cx="10972800" cy="0"/>
          </a:xfrm>
          <a:prstGeom xmlns:a="http://schemas.openxmlformats.org/drawingml/2006/main" prst="line">
            <a:avLst/>
          </a:prstGeom>
          <a:noFill xmlns:a="http://schemas.openxmlformats.org/drawingml/2006/main"/>
          <a:ln xmlns:a="http://schemas.openxmlformats.org/drawingml/2006/main" w="13335">
            <a:solidFill>
              <a:srgbClr val="CAD3C6"/>
            </a:solidFill>
            <a:prstDash val="solid"/>
          </a:ln>
        </p:spPr>
      </p:sp>
      <p:sp>
        <p:nvSpPr>
          <p:cNvPr id="7" name="central-h">
            <a:extLst xmlns:a="http://schemas.openxmlformats.org/drawingml/2006/main">
              <a:ext uri="{FF2B5EF4-FFF2-40B4-BE49-F238E27FC236}">
                <a16:creationId xmlns:a16="http://schemas.microsoft.com/office/drawing/2014/main" id="{FDBB635A-AB5D-4874-9558-51FA3474E55D}"/>
              </a:ext>
            </a:extLst>
          </p:cNvPr>
          <p:cNvSpPr>
            <a:spLocks xmlns:a="http://schemas.openxmlformats.org/drawingml/2006/main" noGrp="1"/>
          </p:cNvSpPr>
          <p:nvPr/>
        </p:nvSpPr>
        <p:spPr>
          <a:xfrm xmlns:a="http://schemas.openxmlformats.org/drawingml/2006/main">
            <a:off x="609600" y="35433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Central scenario</a:t>
            </a:r>
          </a:p>
        </p:txBody>
      </p:sp>
      <p:sp>
        <p:nvSpPr>
          <p:cNvPr id="8" name="central-b">
            <a:extLst xmlns:a="http://schemas.openxmlformats.org/drawingml/2006/main">
              <a:ext uri="{FF2B5EF4-FFF2-40B4-BE49-F238E27FC236}">
                <a16:creationId xmlns:a16="http://schemas.microsoft.com/office/drawing/2014/main" id="{5F150B66-80BD-42BD-9075-5A405AA27CA5}"/>
              </a:ext>
            </a:extLst>
          </p:cNvPr>
          <p:cNvSpPr>
            <a:spLocks xmlns:a="http://schemas.openxmlformats.org/drawingml/2006/main" noGrp="1"/>
          </p:cNvSpPr>
          <p:nvPr/>
        </p:nvSpPr>
        <p:spPr>
          <a:xfrm xmlns:a="http://schemas.openxmlformats.org/drawingml/2006/main">
            <a:off x="609600" y="4010025"/>
            <a:ext cx="10715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Median yield and median price, with costs known before sowing</a:t>
            </a:r>
          </a:p>
        </p:txBody>
      </p:sp>
      <p:sp>
        <p:nvSpPr>
          <p:cNvPr id="9" name="downside-h">
            <a:extLst xmlns:a="http://schemas.openxmlformats.org/drawingml/2006/main">
              <a:ext uri="{FF2B5EF4-FFF2-40B4-BE49-F238E27FC236}">
                <a16:creationId xmlns:a16="http://schemas.microsoft.com/office/drawing/2014/main" id="{CFBC88BB-3908-4878-86A6-4275E6B37AA1}"/>
              </a:ext>
            </a:extLst>
          </p:cNvPr>
          <p:cNvSpPr>
            <a:spLocks xmlns:a="http://schemas.openxmlformats.org/drawingml/2006/main" noGrp="1"/>
          </p:cNvSpPr>
          <p:nvPr/>
        </p:nvSpPr>
        <p:spPr>
          <a:xfrm xmlns:a="http://schemas.openxmlformats.org/drawingml/2006/main">
            <a:off x="609600" y="462915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Downside scenario</a:t>
            </a:r>
          </a:p>
        </p:txBody>
      </p:sp>
      <p:sp>
        <p:nvSpPr>
          <p:cNvPr id="10" name="downside-b">
            <a:extLst xmlns:a="http://schemas.openxmlformats.org/drawingml/2006/main">
              <a:ext uri="{FF2B5EF4-FFF2-40B4-BE49-F238E27FC236}">
                <a16:creationId xmlns:a16="http://schemas.microsoft.com/office/drawing/2014/main" id="{876254E6-CD8F-440E-9179-A2B8F8B64133}"/>
              </a:ext>
            </a:extLst>
          </p:cNvPr>
          <p:cNvSpPr>
            <a:spLocks xmlns:a="http://schemas.openxmlformats.org/drawingml/2006/main" noGrp="1"/>
          </p:cNvSpPr>
          <p:nvPr/>
        </p:nvSpPr>
        <p:spPr>
          <a:xfrm xmlns:a="http://schemas.openxmlformats.org/drawingml/2006/main">
            <a:off x="609600" y="5095875"/>
            <a:ext cx="10715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2655D"/>
                </a:solidFill>
                <a:latin typeface="Arial"/>
                <a:ea typeface="Arial"/>
                <a:cs typeface="Arial"/>
              </a:defRPr>
            </a:defPPr>
          </a:lstStyle>
          <a:p xmlns:a="http://schemas.openxmlformats.org/drawingml/2006/main">
            <a:pPr algn="l">
              <a:lnSpc>
                <a:spcPct val="110000"/>
              </a:lnSpc>
              <a:buNone/>
              <a:defRPr sz="2100" b="0">
                <a:solidFill>
                  <a:srgbClr val="52655D"/>
                </a:solidFill>
                <a:latin typeface="Arial"/>
                <a:ea typeface="Arial"/>
                <a:cs typeface="Arial"/>
              </a:defRPr>
            </a:pPr>
            <a:r>
              <a:rPr sz="2100" b="0">
                <a:solidFill>
                  <a:srgbClr val="52655D"/>
                </a:solidFill>
                <a:latin typeface="Arial"/>
                <a:ea typeface="Arial"/>
                <a:cs typeface="Arial"/>
              </a:rPr>
              <a:t>A conservative yield–price combination with explicit assumptions</a:t>
            </a:r>
          </a:p>
        </p:txBody>
      </p:sp>
      <p:sp>
        <p:nvSpPr>
          <p:cNvPr id="11" name="score">
            <a:extLst xmlns:a="http://schemas.openxmlformats.org/drawingml/2006/main">
              <a:ext uri="{FF2B5EF4-FFF2-40B4-BE49-F238E27FC236}">
                <a16:creationId xmlns:a16="http://schemas.microsoft.com/office/drawing/2014/main" id="{ABE930BB-91CF-41EE-A112-81372069B8CF}"/>
              </a:ext>
            </a:extLst>
          </p:cNvPr>
          <p:cNvSpPr>
            <a:spLocks xmlns:a="http://schemas.openxmlformats.org/drawingml/2006/main" noGrp="1"/>
          </p:cNvSpPr>
          <p:nvPr/>
        </p:nvSpPr>
        <p:spPr>
          <a:xfrm xmlns:a="http://schemas.openxmlformats.org/drawingml/2006/main">
            <a:off x="609600" y="5657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B775C"/>
                </a:solidFill>
                <a:latin typeface="Arial"/>
                <a:ea typeface="Arial"/>
                <a:cs typeface="Arial"/>
              </a:defRPr>
            </a:defPPr>
          </a:lstStyle>
          <a:p xmlns:a="http://schemas.openxmlformats.org/drawingml/2006/main">
            <a:pPr algn="l">
              <a:lnSpc>
                <a:spcPct val="110000"/>
              </a:lnSpc>
              <a:buNone/>
              <a:defRPr sz="2325" b="1">
                <a:solidFill>
                  <a:srgbClr val="2B775C"/>
                </a:solidFill>
                <a:latin typeface="Arial"/>
                <a:ea typeface="Arial"/>
                <a:cs typeface="Arial"/>
              </a:defRPr>
            </a:pPr>
            <a:r>
              <a:rPr sz="2325" b="1">
                <a:solidFill>
                  <a:srgbClr val="2B775C"/>
                </a:solidFill>
                <a:latin typeface="Arial"/>
                <a:ea typeface="Arial"/>
                <a:cs typeface="Arial"/>
              </a:rPr>
              <a:t>Scenario score = central profit − 0.5 × downside gap</a:t>
            </a:r>
          </a:p>
        </p:txBody>
      </p:sp>
    </p:spTree>
    <p:extLst>
      <p:ext uri="{BB962C8B-B14F-4D97-AF65-F5344CB8AC3E}">
        <p14:creationId xmlns:p14="http://schemas.microsoft.com/office/powerpoint/2010/main" val="1656274608"/>
      </p:ext>
    </p:extLst>
  </p:cSld>
</p:sld>
</file>

<file path=ppt/slides/slide9.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07185B9-7D85-4E91-AD85-55729150BF79}"/>
              </a:ext>
            </a:extLst>
          </p:cNvPr>
          <p:cNvCxnSpPr>
            <a:stCxn xmlns:a="http://schemas.openxmlformats.org/drawingml/2006/main" id="10" idx="3"/>
            <a:endCxn xmlns:a="http://schemas.openxmlformats.org/drawingml/2006/main" id="13" idx="1"/>
          </p:cNvCxnSpPr>
          <p:nvPr/>
        </p:nvCxnSpPr>
        <p:spPr>
          <a:xfrm xmlns:a="http://schemas.openxmlformats.org/drawingml/2006/main">
            <a:off x="8905875" y="2495550"/>
            <a:ext cx="285750"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566C9F78-2B92-4CDD-B713-5AC461265989}"/>
              </a:ext>
            </a:extLst>
          </p:cNvPr>
          <p:cNvCxnSpPr>
            <a:stCxn xmlns:a="http://schemas.openxmlformats.org/drawingml/2006/main" id="7" idx="3"/>
            <a:endCxn xmlns:a="http://schemas.openxmlformats.org/drawingml/2006/main" id="10" idx="1"/>
          </p:cNvCxnSpPr>
          <p:nvPr/>
        </p:nvCxnSpPr>
        <p:spPr>
          <a:xfrm xmlns:a="http://schemas.openxmlformats.org/drawingml/2006/main">
            <a:off x="5953125" y="2495550"/>
            <a:ext cx="5429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D1F4B033-D45E-4467-AB3D-2280C9899ED3}"/>
              </a:ext>
            </a:extLst>
          </p:cNvPr>
          <p:cNvCxnSpPr>
            <a:stCxn xmlns:a="http://schemas.openxmlformats.org/drawingml/2006/main" id="4" idx="3"/>
            <a:endCxn xmlns:a="http://schemas.openxmlformats.org/drawingml/2006/main" id="7" idx="1"/>
          </p:cNvCxnSpPr>
          <p:nvPr/>
        </p:nvCxnSpPr>
        <p:spPr>
          <a:xfrm xmlns:a="http://schemas.openxmlformats.org/drawingml/2006/main">
            <a:off x="3000375" y="2495550"/>
            <a:ext cx="542925" cy="0"/>
          </a:xfrm>
          <a:prstGeom xmlns:a="http://schemas.openxmlformats.org/drawingml/2006/main" prst="straightConnector1">
            <a:avLst/>
          </a:prstGeom>
          <a:ln xmlns:a="http://schemas.openxmlformats.org/drawingml/2006/main" w="20955">
            <a:solidFill>
              <a:srgbClr val="2B775C"/>
            </a:solidFill>
            <a:prstDash val="solid"/>
            <a:tailEnd type="triangle" w="sm" len="sm"/>
          </a:ln>
        </p:spPr>
      </p:cxnSp>
      <p:sp>
        <p:nvSpPr>
          <p:cNvPr id="22" name="title-9">
            <a:extLst xmlns:a="http://schemas.openxmlformats.org/drawingml/2006/main">
              <a:ext uri="{FF2B5EF4-FFF2-40B4-BE49-F238E27FC236}">
                <a16:creationId xmlns:a16="http://schemas.microsoft.com/office/drawing/2014/main" id="{6770AADA-227C-4DC5-94BE-C1936A13957B}"/>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Commitments change subsequent advice</a:t>
            </a:r>
          </a:p>
        </p:txBody>
      </p:sp>
      <p:sp>
        <p:nvSpPr>
          <p:cNvPr id="2" name="subtitle-9">
            <a:extLst xmlns:a="http://schemas.openxmlformats.org/drawingml/2006/main">
              <a:ext uri="{FF2B5EF4-FFF2-40B4-BE49-F238E27FC236}">
                <a16:creationId xmlns:a16="http://schemas.microsoft.com/office/drawing/2014/main" id="{6A7EC6DA-BFAD-443B-BA70-2DC0E100AF22}"/>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A voluntary commitment updates regional supply state</a:t>
            </a:r>
          </a:p>
        </p:txBody>
      </p:sp>
      <p:sp>
        <p:nvSpPr>
          <p:cNvPr id="3" name="page-9">
            <a:extLst xmlns:a="http://schemas.openxmlformats.org/drawingml/2006/main">
              <a:ext uri="{FF2B5EF4-FFF2-40B4-BE49-F238E27FC236}">
                <a16:creationId xmlns:a16="http://schemas.microsoft.com/office/drawing/2014/main" id="{919FC631-FB6A-45A8-A4EE-192696504AF0}"/>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09</a:t>
            </a:r>
          </a:p>
        </p:txBody>
      </p:sp>
      <p:sp>
        <p:nvSpPr>
          <p:cNvPr id="4" name="quote">
            <a:extLst xmlns:a="http://schemas.openxmlformats.org/drawingml/2006/main">
              <a:ext uri="{FF2B5EF4-FFF2-40B4-BE49-F238E27FC236}">
                <a16:creationId xmlns:a16="http://schemas.microsoft.com/office/drawing/2014/main" id="{D3FBB513-D50C-4BAE-885B-66890968D3FA}"/>
              </a:ext>
            </a:extLst>
          </p:cNvPr>
          <p:cNvSpPr>
            <a:spLocks xmlns:a="http://schemas.openxmlformats.org/drawingml/2006/main" noGrp="1"/>
          </p:cNvSpPr>
          <p:nvPr/>
        </p:nvSpPr>
        <p:spPr>
          <a:xfrm xmlns:a="http://schemas.openxmlformats.org/drawingml/2006/main">
            <a:off x="590550" y="2000250"/>
            <a:ext cx="24098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5" name="quote-title">
            <a:extLst xmlns:a="http://schemas.openxmlformats.org/drawingml/2006/main">
              <a:ext uri="{FF2B5EF4-FFF2-40B4-BE49-F238E27FC236}">
                <a16:creationId xmlns:a16="http://schemas.microsoft.com/office/drawing/2014/main" id="{2E3C6C3A-69EA-4367-B7A2-735B7F27689E}"/>
              </a:ext>
            </a:extLst>
          </p:cNvPr>
          <p:cNvSpPr>
            <a:spLocks xmlns:a="http://schemas.openxmlformats.org/drawingml/2006/main" noGrp="1"/>
          </p:cNvSpPr>
          <p:nvPr/>
        </p:nvSpPr>
        <p:spPr>
          <a:xfrm xmlns:a="http://schemas.openxmlformats.org/drawingml/2006/main">
            <a:off x="733425" y="2143125"/>
            <a:ext cx="2124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Read advice</a:t>
            </a:r>
          </a:p>
        </p:txBody>
      </p:sp>
      <p:sp>
        <p:nvSpPr>
          <p:cNvPr id="6" name="quote-sub">
            <a:extLst xmlns:a="http://schemas.openxmlformats.org/drawingml/2006/main">
              <a:ext uri="{FF2B5EF4-FFF2-40B4-BE49-F238E27FC236}">
                <a16:creationId xmlns:a16="http://schemas.microsoft.com/office/drawing/2014/main" id="{D8A53720-1845-4D8A-B0B6-A67F2C7E0005}"/>
              </a:ext>
            </a:extLst>
          </p:cNvPr>
          <p:cNvSpPr>
            <a:spLocks xmlns:a="http://schemas.openxmlformats.org/drawingml/2006/main" noGrp="1"/>
          </p:cNvSpPr>
          <p:nvPr/>
        </p:nvSpPr>
        <p:spPr>
          <a:xfrm xmlns:a="http://schemas.openxmlformats.org/drawingml/2006/main">
            <a:off x="733425" y="2552700"/>
            <a:ext cx="2124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Current supply state</a:t>
            </a:r>
          </a:p>
        </p:txBody>
      </p:sp>
      <p:sp>
        <p:nvSpPr>
          <p:cNvPr id="7" name="confirm">
            <a:extLst xmlns:a="http://schemas.openxmlformats.org/drawingml/2006/main">
              <a:ext uri="{FF2B5EF4-FFF2-40B4-BE49-F238E27FC236}">
                <a16:creationId xmlns:a16="http://schemas.microsoft.com/office/drawing/2014/main" id="{C815D54E-E239-4D12-9489-C13930E64058}"/>
              </a:ext>
            </a:extLst>
          </p:cNvPr>
          <p:cNvSpPr>
            <a:spLocks xmlns:a="http://schemas.openxmlformats.org/drawingml/2006/main" noGrp="1"/>
          </p:cNvSpPr>
          <p:nvPr/>
        </p:nvSpPr>
        <p:spPr>
          <a:xfrm xmlns:a="http://schemas.openxmlformats.org/drawingml/2006/main">
            <a:off x="3543300" y="2000250"/>
            <a:ext cx="24098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8" name="confirm-title">
            <a:extLst xmlns:a="http://schemas.openxmlformats.org/drawingml/2006/main">
              <a:ext uri="{FF2B5EF4-FFF2-40B4-BE49-F238E27FC236}">
                <a16:creationId xmlns:a16="http://schemas.microsoft.com/office/drawing/2014/main" id="{03D11A56-AFFC-41BF-A73A-58CC43A79C98}"/>
              </a:ext>
            </a:extLst>
          </p:cNvPr>
          <p:cNvSpPr>
            <a:spLocks xmlns:a="http://schemas.openxmlformats.org/drawingml/2006/main" noGrp="1"/>
          </p:cNvSpPr>
          <p:nvPr/>
        </p:nvSpPr>
        <p:spPr>
          <a:xfrm xmlns:a="http://schemas.openxmlformats.org/drawingml/2006/main">
            <a:off x="3686175" y="2143125"/>
            <a:ext cx="2124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Farmer confirms</a:t>
            </a:r>
          </a:p>
        </p:txBody>
      </p:sp>
      <p:sp>
        <p:nvSpPr>
          <p:cNvPr id="9" name="confirm-sub">
            <a:extLst xmlns:a="http://schemas.openxmlformats.org/drawingml/2006/main">
              <a:ext uri="{FF2B5EF4-FFF2-40B4-BE49-F238E27FC236}">
                <a16:creationId xmlns:a16="http://schemas.microsoft.com/office/drawing/2014/main" id="{1C48A681-C915-4557-907C-152B4B262549}"/>
              </a:ext>
            </a:extLst>
          </p:cNvPr>
          <p:cNvSpPr>
            <a:spLocks xmlns:a="http://schemas.openxmlformats.org/drawingml/2006/main" noGrp="1"/>
          </p:cNvSpPr>
          <p:nvPr/>
        </p:nvSpPr>
        <p:spPr>
          <a:xfrm xmlns:a="http://schemas.openxmlformats.org/drawingml/2006/main">
            <a:off x="3686175" y="2552700"/>
            <a:ext cx="2124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Crop + positive area</a:t>
            </a:r>
          </a:p>
        </p:txBody>
      </p:sp>
      <p:sp>
        <p:nvSpPr>
          <p:cNvPr id="10" name="transaction">
            <a:extLst xmlns:a="http://schemas.openxmlformats.org/drawingml/2006/main">
              <a:ext uri="{FF2B5EF4-FFF2-40B4-BE49-F238E27FC236}">
                <a16:creationId xmlns:a16="http://schemas.microsoft.com/office/drawing/2014/main" id="{566CF0E6-A328-4497-9665-1608C09171B6}"/>
              </a:ext>
            </a:extLst>
          </p:cNvPr>
          <p:cNvSpPr>
            <a:spLocks xmlns:a="http://schemas.openxmlformats.org/drawingml/2006/main" noGrp="1"/>
          </p:cNvSpPr>
          <p:nvPr/>
        </p:nvSpPr>
        <p:spPr>
          <a:xfrm xmlns:a="http://schemas.openxmlformats.org/drawingml/2006/main">
            <a:off x="6496050" y="2000250"/>
            <a:ext cx="2409825" cy="990600"/>
          </a:xfrm>
          <a:prstGeom xmlns:a="http://schemas.openxmlformats.org/drawingml/2006/main" prst="rect">
            <a:avLst/>
          </a:prstGeom>
          <a:solidFill xmlns:a="http://schemas.openxmlformats.org/drawingml/2006/main">
            <a:srgbClr val="D9E8C7"/>
          </a:solidFill>
          <a:ln xmlns:a="http://schemas.openxmlformats.org/drawingml/2006/main" w="14288">
            <a:solidFill>
              <a:srgbClr val="2B775C"/>
            </a:solidFill>
            <a:prstDash val="solid"/>
          </a:ln>
        </p:spPr>
      </p:sp>
      <p:sp>
        <p:nvSpPr>
          <p:cNvPr id="11" name="transaction-title">
            <a:extLst xmlns:a="http://schemas.openxmlformats.org/drawingml/2006/main">
              <a:ext uri="{FF2B5EF4-FFF2-40B4-BE49-F238E27FC236}">
                <a16:creationId xmlns:a16="http://schemas.microsoft.com/office/drawing/2014/main" id="{96827BA4-7734-43DB-9E93-5BD9651C6FD4}"/>
              </a:ext>
            </a:extLst>
          </p:cNvPr>
          <p:cNvSpPr>
            <a:spLocks xmlns:a="http://schemas.openxmlformats.org/drawingml/2006/main" noGrp="1"/>
          </p:cNvSpPr>
          <p:nvPr/>
        </p:nvSpPr>
        <p:spPr>
          <a:xfrm xmlns:a="http://schemas.openxmlformats.org/drawingml/2006/main">
            <a:off x="6638925" y="2143125"/>
            <a:ext cx="2124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Atomic check</a:t>
            </a:r>
          </a:p>
        </p:txBody>
      </p:sp>
      <p:sp>
        <p:nvSpPr>
          <p:cNvPr id="12" name="transaction-sub">
            <a:extLst xmlns:a="http://schemas.openxmlformats.org/drawingml/2006/main">
              <a:ext uri="{FF2B5EF4-FFF2-40B4-BE49-F238E27FC236}">
                <a16:creationId xmlns:a16="http://schemas.microsoft.com/office/drawing/2014/main" id="{9D321D29-AA5B-41FA-85FE-674703FE9413}"/>
              </a:ext>
            </a:extLst>
          </p:cNvPr>
          <p:cNvSpPr>
            <a:spLocks xmlns:a="http://schemas.openxmlformats.org/drawingml/2006/main" noGrp="1"/>
          </p:cNvSpPr>
          <p:nvPr/>
        </p:nvSpPr>
        <p:spPr>
          <a:xfrm xmlns:a="http://schemas.openxmlformats.org/drawingml/2006/main">
            <a:off x="6638925" y="2552700"/>
            <a:ext cx="2124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Crop caps + retries</a:t>
            </a:r>
          </a:p>
        </p:txBody>
      </p:sp>
      <p:sp>
        <p:nvSpPr>
          <p:cNvPr id="13" name="persist">
            <a:extLst xmlns:a="http://schemas.openxmlformats.org/drawingml/2006/main">
              <a:ext uri="{FF2B5EF4-FFF2-40B4-BE49-F238E27FC236}">
                <a16:creationId xmlns:a16="http://schemas.microsoft.com/office/drawing/2014/main" id="{D5BAC9B4-CE95-472E-977F-3B0190C85C17}"/>
              </a:ext>
            </a:extLst>
          </p:cNvPr>
          <p:cNvSpPr>
            <a:spLocks xmlns:a="http://schemas.openxmlformats.org/drawingml/2006/main" noGrp="1"/>
          </p:cNvSpPr>
          <p:nvPr/>
        </p:nvSpPr>
        <p:spPr>
          <a:xfrm xmlns:a="http://schemas.openxmlformats.org/drawingml/2006/main">
            <a:off x="9191625" y="2000250"/>
            <a:ext cx="240030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B775C"/>
            </a:solidFill>
            <a:prstDash val="solid"/>
          </a:ln>
        </p:spPr>
      </p:sp>
      <p:sp>
        <p:nvSpPr>
          <p:cNvPr id="14" name="persist-title">
            <a:extLst xmlns:a="http://schemas.openxmlformats.org/drawingml/2006/main">
              <a:ext uri="{FF2B5EF4-FFF2-40B4-BE49-F238E27FC236}">
                <a16:creationId xmlns:a16="http://schemas.microsoft.com/office/drawing/2014/main" id="{26848643-ECBB-44F2-A09D-5A0886B74589}"/>
              </a:ext>
            </a:extLst>
          </p:cNvPr>
          <p:cNvSpPr>
            <a:spLocks xmlns:a="http://schemas.openxmlformats.org/drawingml/2006/main" noGrp="1"/>
          </p:cNvSpPr>
          <p:nvPr/>
        </p:nvSpPr>
        <p:spPr>
          <a:xfrm xmlns:a="http://schemas.openxmlformats.org/drawingml/2006/main">
            <a:off x="9334500" y="2143125"/>
            <a:ext cx="2114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3A32"/>
                </a:solidFill>
                <a:latin typeface="Arial"/>
                <a:ea typeface="Arial"/>
                <a:cs typeface="Arial"/>
              </a:defRPr>
            </a:defPPr>
          </a:lstStyle>
          <a:p xmlns:a="http://schemas.openxmlformats.org/drawingml/2006/main">
            <a:pPr algn="ctr">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Save + refresh</a:t>
            </a:r>
          </a:p>
        </p:txBody>
      </p:sp>
      <p:sp>
        <p:nvSpPr>
          <p:cNvPr id="15" name="persist-sub">
            <a:extLst xmlns:a="http://schemas.openxmlformats.org/drawingml/2006/main">
              <a:ext uri="{FF2B5EF4-FFF2-40B4-BE49-F238E27FC236}">
                <a16:creationId xmlns:a16="http://schemas.microsoft.com/office/drawing/2014/main" id="{0CB1CF86-2CBB-498D-BD62-5A2C2AFAD439}"/>
              </a:ext>
            </a:extLst>
          </p:cNvPr>
          <p:cNvSpPr>
            <a:spLocks xmlns:a="http://schemas.openxmlformats.org/drawingml/2006/main" noGrp="1"/>
          </p:cNvSpPr>
          <p:nvPr/>
        </p:nvSpPr>
        <p:spPr>
          <a:xfrm xmlns:a="http://schemas.openxmlformats.org/drawingml/2006/main">
            <a:off x="9334500" y="25527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52655D"/>
                </a:solidFill>
                <a:latin typeface="Arial"/>
                <a:ea typeface="Arial"/>
                <a:cs typeface="Arial"/>
              </a:defRPr>
            </a:defPPr>
          </a:lstStyle>
          <a:p xmlns:a="http://schemas.openxmlformats.org/drawingml/2006/main">
            <a:pPr algn="ctr">
              <a:lnSpc>
                <a:spcPct val="110000"/>
              </a:lnSpc>
              <a:buNone/>
              <a:defRPr sz="1725" b="0">
                <a:solidFill>
                  <a:srgbClr val="52655D"/>
                </a:solidFill>
                <a:latin typeface="Arial"/>
                <a:ea typeface="Arial"/>
                <a:cs typeface="Arial"/>
              </a:defRPr>
            </a:pPr>
            <a:r>
              <a:rPr sz="1725" b="0">
                <a:solidFill>
                  <a:srgbClr val="52655D"/>
                </a:solidFill>
                <a:latin typeface="Arial"/>
                <a:ea typeface="Arial"/>
                <a:cs typeface="Arial"/>
              </a:rPr>
              <a:t>Accepted state</a:t>
            </a:r>
          </a:p>
        </p:txBody>
      </p:sp>
      <p:sp>
        <p:nvSpPr>
          <p:cNvPr id="19" name="case-title">
            <a:extLst xmlns:a="http://schemas.openxmlformats.org/drawingml/2006/main">
              <a:ext uri="{FF2B5EF4-FFF2-40B4-BE49-F238E27FC236}">
                <a16:creationId xmlns:a16="http://schemas.microsoft.com/office/drawing/2014/main" id="{EBDEA2B5-A687-48D5-9972-0CE1997BAB8A}"/>
              </a:ext>
            </a:extLst>
          </p:cNvPr>
          <p:cNvSpPr>
            <a:spLocks xmlns:a="http://schemas.openxmlformats.org/drawingml/2006/main" noGrp="1"/>
          </p:cNvSpPr>
          <p:nvPr/>
        </p:nvSpPr>
        <p:spPr>
          <a:xfrm xmlns:a="http://schemas.openxmlformats.org/drawingml/2006/main">
            <a:off x="609600" y="35147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73A32"/>
                </a:solidFill>
                <a:latin typeface="Arial"/>
                <a:ea typeface="Arial"/>
                <a:cs typeface="Arial"/>
              </a:defRPr>
            </a:defPPr>
          </a:lstStyle>
          <a:p xmlns:a="http://schemas.openxmlformats.org/drawingml/2006/main">
            <a:pPr algn="l">
              <a:lnSpc>
                <a:spcPct val="110000"/>
              </a:lnSpc>
              <a:buNone/>
              <a:defRPr sz="2550" b="1">
                <a:solidFill>
                  <a:srgbClr val="173A32"/>
                </a:solidFill>
                <a:latin typeface="Arial"/>
                <a:ea typeface="Arial"/>
                <a:cs typeface="Arial"/>
              </a:defRPr>
            </a:pPr>
            <a:r>
              <a:rPr sz="2550" b="1">
                <a:solidFill>
                  <a:srgbClr val="173A32"/>
                </a:solidFill>
                <a:latin typeface="Arial"/>
                <a:ea typeface="Arial"/>
                <a:cs typeface="Arial"/>
              </a:rPr>
              <a:t>Illustrative onion capacity example</a:t>
            </a:r>
          </a:p>
        </p:txBody>
      </p:sp>
      <p:graphicFrame>
        <p:nvGraphicFramePr>
          <p:cNvPr id="20" name="">
            <a:extLst xmlns:a="http://schemas.openxmlformats.org/drawingml/2006/main">
              <a:ext uri="{FF2B5EF4-FFF2-40B4-BE49-F238E27FC236}">
                <a16:creationId xmlns:a16="http://schemas.microsoft.com/office/drawing/2014/main" id="{105C454B-F677-4262-8F73-54C8A2BB73B4}"/>
              </a:ext>
            </a:extLst>
          </p:cNvPr>
          <p:cNvGraphicFramePr/>
          <p:nvPr/>
        </p:nvGraphicFramePr>
        <p:xfrm>
          <a:off xmlns:a="http://schemas.openxmlformats.org/drawingml/2006/main" x="609600" y="4124325"/>
          <a:ext xmlns:a="http://schemas.openxmlformats.org/drawingml/2006/main" cx="10972800" cy="1219200"/>
        </p:xfrm>
        <a:graphic xmlns:a="http://schemas.openxmlformats.org/drawingml/2006/main">
          <a:graphicData uri="http://schemas.openxmlformats.org/drawingml/2006/table">
            <a:tbl>
              <a:tblPr firstRow="1" bandRow="0"/>
              <a:tblGrid>
                <a:gridCol w="2743200"/>
                <a:gridCol w="2743200"/>
                <a:gridCol w="2743200"/>
                <a:gridCol w="2743200"/>
              </a:tblGrid>
              <a:tr h="609600">
                <a:tc>
                  <a:txBody>
                    <a:bodyPr lIns="142875" tIns="95250" rIns="142875" bIns="95250"/>
                    <a:lstStyle/>
                    <a:p>
                      <a:r>
                        <a:rPr sz="2175" b="1">
                          <a:solidFill>
                            <a:srgbClr val="FFFFFF"/>
                          </a:solidFill>
                          <a:latin typeface="Arial"/>
                          <a:ea typeface="Arial"/>
                          <a:cs typeface="Arial"/>
                        </a:rPr>
                        <a:t>Capacity</a:t>
                      </a:r>
                    </a:p>
                  </a:txBody>
                  <a:tcPr marL="91440" marR="91440" marT="45720" marB="45720" anchor="ctr">
                    <a:solidFill>
                      <a:srgbClr val="173A32"/>
                    </a:solidFill>
                  </a:tcPr>
                </a:tc>
                <a:tc>
                  <a:txBody>
                    <a:bodyPr lIns="142875" tIns="95250" rIns="142875" bIns="95250"/>
                    <a:lstStyle/>
                    <a:p>
                      <a:r>
                        <a:rPr sz="2175" b="1">
                          <a:solidFill>
                            <a:srgbClr val="FFFFFF"/>
                          </a:solidFill>
                          <a:latin typeface="Arial"/>
                          <a:ea typeface="Arial"/>
                          <a:cs typeface="Arial"/>
                        </a:rPr>
                        <a:t>Committed</a:t>
                      </a:r>
                    </a:p>
                  </a:txBody>
                  <a:tcPr marL="91440" marR="91440" marT="45720" marB="45720" anchor="ctr">
                    <a:solidFill>
                      <a:srgbClr val="173A32"/>
                    </a:solidFill>
                  </a:tcPr>
                </a:tc>
                <a:tc>
                  <a:txBody>
                    <a:bodyPr lIns="142875" tIns="95250" rIns="142875" bIns="95250"/>
                    <a:lstStyle/>
                    <a:p>
                      <a:r>
                        <a:rPr sz="2175" b="1">
                          <a:solidFill>
                            <a:srgbClr val="FFFFFF"/>
                          </a:solidFill>
                          <a:latin typeface="Arial"/>
                          <a:ea typeface="Arial"/>
                          <a:cs typeface="Arial"/>
                        </a:rPr>
                        <a:t>Remaining</a:t>
                      </a:r>
                    </a:p>
                  </a:txBody>
                  <a:tcPr marL="91440" marR="91440" marT="45720" marB="45720" anchor="ctr">
                    <a:solidFill>
                      <a:srgbClr val="173A32"/>
                    </a:solidFill>
                  </a:tcPr>
                </a:tc>
                <a:tc>
                  <a:txBody>
                    <a:bodyPr lIns="142875" tIns="95250" rIns="142875" bIns="95250"/>
                    <a:lstStyle/>
                    <a:p>
                      <a:r>
                        <a:rPr sz="2175" b="1">
                          <a:solidFill>
                            <a:srgbClr val="FFFFFF"/>
                          </a:solidFill>
                          <a:latin typeface="Arial"/>
                          <a:ea typeface="Arial"/>
                          <a:cs typeface="Arial"/>
                        </a:rPr>
                        <a:t>New request</a:t>
                      </a:r>
                    </a:p>
                  </a:txBody>
                  <a:tcPr marL="91440" marR="91440" marT="45720" marB="45720" anchor="ctr">
                    <a:solidFill>
                      <a:srgbClr val="173A32"/>
                    </a:solidFill>
                  </a:tcPr>
                </a:tc>
              </a:tr>
              <a:tr h="609600">
                <a:tc>
                  <a:txBody>
                    <a:bodyPr lIns="142875" tIns="95250" rIns="142875" bIns="95250"/>
                    <a:lstStyle/>
                    <a:p>
                      <a:r>
                        <a:rPr sz="2175" b="0">
                          <a:solidFill>
                            <a:srgbClr val="173A32"/>
                          </a:solidFill>
                          <a:latin typeface="Arial"/>
                          <a:ea typeface="Arial"/>
                          <a:cs typeface="Arial"/>
                        </a:rPr>
                        <a:t>700 ha</a:t>
                      </a:r>
                    </a:p>
                  </a:txBody>
                  <a:tcPr marL="91440" marR="91440" marT="45720" marB="45720" anchor="ctr">
                    <a:solidFill>
                      <a:srgbClr val="F5F4EB"/>
                    </a:solidFill>
                  </a:tcPr>
                </a:tc>
                <a:tc>
                  <a:txBody>
                    <a:bodyPr lIns="142875" tIns="95250" rIns="142875" bIns="95250"/>
                    <a:lstStyle/>
                    <a:p>
                      <a:r>
                        <a:rPr sz="2175" b="0">
                          <a:solidFill>
                            <a:srgbClr val="173A32"/>
                          </a:solidFill>
                          <a:latin typeface="Arial"/>
                          <a:ea typeface="Arial"/>
                          <a:cs typeface="Arial"/>
                        </a:rPr>
                        <a:t>600 ha</a:t>
                      </a:r>
                    </a:p>
                  </a:txBody>
                  <a:tcPr marL="91440" marR="91440" marT="45720" marB="45720" anchor="ctr">
                    <a:solidFill>
                      <a:srgbClr val="F5F4EB"/>
                    </a:solidFill>
                  </a:tcPr>
                </a:tc>
                <a:tc>
                  <a:txBody>
                    <a:bodyPr lIns="142875" tIns="95250" rIns="142875" bIns="95250"/>
                    <a:lstStyle/>
                    <a:p>
                      <a:r>
                        <a:rPr sz="2175" b="0">
                          <a:solidFill>
                            <a:srgbClr val="173A32"/>
                          </a:solidFill>
                          <a:latin typeface="Arial"/>
                          <a:ea typeface="Arial"/>
                          <a:cs typeface="Arial"/>
                        </a:rPr>
                        <a:t>100 ha</a:t>
                      </a:r>
                    </a:p>
                  </a:txBody>
                  <a:tcPr marL="91440" marR="91440" marT="45720" marB="45720" anchor="ctr">
                    <a:solidFill>
                      <a:srgbClr val="F5F4EB"/>
                    </a:solidFill>
                  </a:tcPr>
                </a:tc>
                <a:tc>
                  <a:txBody>
                    <a:bodyPr lIns="142875" tIns="95250" rIns="142875" bIns="95250"/>
                    <a:lstStyle/>
                    <a:p>
                      <a:r>
                        <a:rPr sz="2175" b="0">
                          <a:solidFill>
                            <a:srgbClr val="173A32"/>
                          </a:solidFill>
                          <a:latin typeface="Arial"/>
                          <a:ea typeface="Arial"/>
                          <a:cs typeface="Arial"/>
                        </a:rPr>
                        <a:t>200 ha</a:t>
                      </a:r>
                    </a:p>
                  </a:txBody>
                  <a:tcPr marL="91440" marR="91440" marT="45720" marB="45720" anchor="ctr">
                    <a:solidFill>
                      <a:srgbClr val="F5F4EB"/>
                    </a:solidFill>
                  </a:tcPr>
                </a:tc>
              </a:tr>
            </a:tbl>
          </a:graphicData>
        </a:graphic>
      </p:graphicFrame>
      <p:sp>
        <p:nvSpPr>
          <p:cNvPr id="21" name="capacity-outcome">
            <a:extLst xmlns:a="http://schemas.openxmlformats.org/drawingml/2006/main">
              <a:ext uri="{FF2B5EF4-FFF2-40B4-BE49-F238E27FC236}">
                <a16:creationId xmlns:a16="http://schemas.microsoft.com/office/drawing/2014/main" id="{0468FDA7-6F42-428A-86B6-917EA8D0F5A3}"/>
              </a:ext>
            </a:extLst>
          </p:cNvPr>
          <p:cNvSpPr>
            <a:spLocks xmlns:a="http://schemas.openxmlformats.org/drawingml/2006/main" noGrp="1"/>
          </p:cNvSpPr>
          <p:nvPr/>
        </p:nvSpPr>
        <p:spPr>
          <a:xfrm xmlns:a="http://schemas.openxmlformats.org/drawingml/2006/main">
            <a:off x="609600" y="56007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85F35"/>
                </a:solidFill>
                <a:latin typeface="Arial"/>
                <a:ea typeface="Arial"/>
                <a:cs typeface="Arial"/>
              </a:defRPr>
            </a:defPPr>
          </a:lstStyle>
          <a:p xmlns:a="http://schemas.openxmlformats.org/drawingml/2006/main">
            <a:pPr algn="l">
              <a:lnSpc>
                <a:spcPct val="110000"/>
              </a:lnSpc>
              <a:buNone/>
              <a:defRPr sz="2250" b="1">
                <a:solidFill>
                  <a:srgbClr val="B85F35"/>
                </a:solidFill>
                <a:latin typeface="Arial"/>
                <a:ea typeface="Arial"/>
                <a:cs typeface="Arial"/>
              </a:defRPr>
            </a:pPr>
            <a:r>
              <a:rPr sz="2250" b="1">
                <a:solidFill>
                  <a:srgbClr val="B85F35"/>
                </a:solidFill>
                <a:latin typeface="Arial"/>
                <a:ea typeface="Arial"/>
                <a:cs typeface="Arial"/>
              </a:rPr>
              <a:t>Request exceeds remaining capacity. Offer a supported alternative crop.</a:t>
            </a:r>
          </a:p>
        </p:txBody>
      </p:sp>
    </p:spTree>
    <p:extLst>
      <p:ext uri="{BB962C8B-B14F-4D97-AF65-F5344CB8AC3E}">
        <p14:creationId xmlns:p14="http://schemas.microsoft.com/office/powerpoint/2010/main" val="700678513"/>
      </p:ext>
    </p:extLst>
  </p:cSld>
</p:sld>
</file>

<file path=ppt/slides/slide10.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1" name="title-10">
            <a:extLst xmlns:a="http://schemas.openxmlformats.org/drawingml/2006/main">
              <a:ext uri="{FF2B5EF4-FFF2-40B4-BE49-F238E27FC236}">
                <a16:creationId xmlns:a16="http://schemas.microsoft.com/office/drawing/2014/main" id="{FC32B8C8-A672-4691-9E1A-2E019B88CD7B}"/>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Application and representative output</a:t>
            </a:r>
          </a:p>
        </p:txBody>
      </p:sp>
      <p:sp>
        <p:nvSpPr>
          <p:cNvPr id="2" name="subtitle-10">
            <a:extLst xmlns:a="http://schemas.openxmlformats.org/drawingml/2006/main">
              <a:ext uri="{FF2B5EF4-FFF2-40B4-BE49-F238E27FC236}">
                <a16:creationId xmlns:a16="http://schemas.microsoft.com/office/drawing/2014/main" id="{44E03CE5-DCEE-4F21-9BE8-E0D813B0D9CB}"/>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Existing interface captured from this project, with a saved 2019 scenario</a:t>
            </a:r>
          </a:p>
        </p:txBody>
      </p:sp>
      <p:sp>
        <p:nvSpPr>
          <p:cNvPr id="3" name="page-10">
            <a:extLst xmlns:a="http://schemas.openxmlformats.org/drawingml/2006/main">
              <a:ext uri="{FF2B5EF4-FFF2-40B4-BE49-F238E27FC236}">
                <a16:creationId xmlns:a16="http://schemas.microsoft.com/office/drawing/2014/main" id="{48B37D89-6962-404B-9344-C008DB5F20FC}"/>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44FDDD5E-7480-4188-90F1-450C9917541F}"/>
              </a:ext>
            </a:extLst>
          </p:cNvPr>
          <p:cNvPicPr>
            <a:picLocks xmlns:a="http://schemas.openxmlformats.org/drawingml/2006/main" noChangeAspect="1"/>
          </p:cNvPicPr>
          <p:nvPr/>
        </p:nvPicPr>
        <p:blipFill>
          <a:blip xmlns:r="http://schemas.openxmlformats.org/officeDocument/2006/relationships" xmlns:a="http://schemas.openxmlformats.org/drawingml/2006/main" r:embed="R1c23dbbcda9342ef"/>
          <a:stretch xmlns:a="http://schemas.openxmlformats.org/drawingml/2006/main"/>
        </p:blipFill>
        <p:spPr>
          <a:xfrm xmlns:a="http://schemas.openxmlformats.org/drawingml/2006/main">
            <a:off x="1065068" y="1762125"/>
            <a:ext cx="6137564" cy="4219575"/>
          </a:xfrm>
          <a:prstGeom xmlns:a="http://schemas.openxmlformats.org/drawingml/2006/main" prst="rect">
            <a:avLst/>
          </a:prstGeom>
        </p:spPr>
      </p:pic>
      <p:sp>
        <p:nvSpPr>
          <p:cNvPr id="5" name="app-input">
            <a:extLst xmlns:a="http://schemas.openxmlformats.org/drawingml/2006/main">
              <a:ext uri="{FF2B5EF4-FFF2-40B4-BE49-F238E27FC236}">
                <a16:creationId xmlns:a16="http://schemas.microsoft.com/office/drawing/2014/main" id="{2C00AA4F-0E45-4137-985E-942C30FA2E54}"/>
              </a:ext>
            </a:extLst>
          </p:cNvPr>
          <p:cNvSpPr>
            <a:spLocks xmlns:a="http://schemas.openxmlformats.org/drawingml/2006/main" noGrp="1"/>
          </p:cNvSpPr>
          <p:nvPr/>
        </p:nvSpPr>
        <p:spPr>
          <a:xfrm xmlns:a="http://schemas.openxmlformats.org/drawingml/2006/main">
            <a:off x="8153400" y="1781175"/>
            <a:ext cx="342900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3A32"/>
                </a:solidFill>
                <a:latin typeface="Arial"/>
                <a:ea typeface="Arial"/>
                <a:cs typeface="Arial"/>
              </a:defRPr>
            </a:defPPr>
          </a:lstStyle>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Tamil Nadu</a:t>
            </a:r>
          </a:p>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Coimbatore</a:t>
            </a:r>
          </a:p>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Kharif, 1 hectare</a:t>
            </a:r>
          </a:p>
        </p:txBody>
      </p:sp>
      <p:sp>
        <p:nvSpPr>
          <p:cNvPr id="6" name="app-crop">
            <a:extLst xmlns:a="http://schemas.openxmlformats.org/drawingml/2006/main">
              <a:ext uri="{FF2B5EF4-FFF2-40B4-BE49-F238E27FC236}">
                <a16:creationId xmlns:a16="http://schemas.microsoft.com/office/drawing/2014/main" id="{1853065D-259C-4590-A36E-5470CDC2F4C4}"/>
              </a:ext>
            </a:extLst>
          </p:cNvPr>
          <p:cNvSpPr>
            <a:spLocks xmlns:a="http://schemas.openxmlformats.org/drawingml/2006/main" noGrp="1"/>
          </p:cNvSpPr>
          <p:nvPr/>
        </p:nvSpPr>
        <p:spPr>
          <a:xfrm xmlns:a="http://schemas.openxmlformats.org/drawingml/2006/main">
            <a:off x="8153400" y="3200400"/>
            <a:ext cx="3371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2B775C"/>
                </a:solidFill>
                <a:latin typeface="Arial"/>
                <a:ea typeface="Arial"/>
                <a:cs typeface="Arial"/>
              </a:defRPr>
            </a:defPPr>
          </a:lstStyle>
          <a:p xmlns:a="http://schemas.openxmlformats.org/drawingml/2006/main">
            <a:pPr algn="l">
              <a:lnSpc>
                <a:spcPct val="110000"/>
              </a:lnSpc>
              <a:buNone/>
              <a:defRPr sz="3150" b="1">
                <a:solidFill>
                  <a:srgbClr val="2B775C"/>
                </a:solidFill>
                <a:latin typeface="Arial"/>
                <a:ea typeface="Arial"/>
                <a:cs typeface="Arial"/>
              </a:defRPr>
            </a:pPr>
            <a:r>
              <a:rPr sz="3150" b="1">
                <a:solidFill>
                  <a:srgbClr val="2B775C"/>
                </a:solidFill>
                <a:latin typeface="Arial"/>
                <a:ea typeface="Arial"/>
                <a:cs typeface="Arial"/>
              </a:rPr>
              <a:t>Ragi</a:t>
            </a:r>
          </a:p>
        </p:txBody>
      </p:sp>
      <p:sp>
        <p:nvSpPr>
          <p:cNvPr id="7" name="app-yield">
            <a:extLst xmlns:a="http://schemas.openxmlformats.org/drawingml/2006/main">
              <a:ext uri="{FF2B5EF4-FFF2-40B4-BE49-F238E27FC236}">
                <a16:creationId xmlns:a16="http://schemas.microsoft.com/office/drawing/2014/main" id="{E23624D8-52B7-4B6C-BDD4-48DFA1278A60}"/>
              </a:ext>
            </a:extLst>
          </p:cNvPr>
          <p:cNvSpPr>
            <a:spLocks xmlns:a="http://schemas.openxmlformats.org/drawingml/2006/main" noGrp="1"/>
          </p:cNvSpPr>
          <p:nvPr/>
        </p:nvSpPr>
        <p:spPr>
          <a:xfrm xmlns:a="http://schemas.openxmlformats.org/drawingml/2006/main">
            <a:off x="8153400" y="3771900"/>
            <a:ext cx="3371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73A32"/>
                </a:solidFill>
                <a:latin typeface="Arial"/>
                <a:ea typeface="Arial"/>
                <a:cs typeface="Arial"/>
              </a:defRPr>
            </a:defPPr>
          </a:lstStyle>
          <a:p xmlns:a="http://schemas.openxmlformats.org/drawingml/2006/main">
            <a:pPr algn="l">
              <a:lnSpc>
                <a:spcPct val="110000"/>
              </a:lnSpc>
              <a:buNone/>
              <a:defRPr sz="2175" b="0">
                <a:solidFill>
                  <a:srgbClr val="173A32"/>
                </a:solidFill>
                <a:latin typeface="Arial"/>
                <a:ea typeface="Arial"/>
                <a:cs typeface="Arial"/>
              </a:defRPr>
            </a:pPr>
            <a:r>
              <a:rPr sz="2175" b="0">
                <a:solidFill>
                  <a:srgbClr val="173A32"/>
                </a:solidFill>
                <a:latin typeface="Arial"/>
                <a:ea typeface="Arial"/>
                <a:cs typeface="Arial"/>
              </a:rPr>
              <a:t>2.65 t/ha median yield</a:t>
            </a:r>
          </a:p>
        </p:txBody>
      </p:sp>
      <p:sp>
        <p:nvSpPr>
          <p:cNvPr id="8" name="app-profit">
            <a:extLst xmlns:a="http://schemas.openxmlformats.org/drawingml/2006/main">
              <a:ext uri="{FF2B5EF4-FFF2-40B4-BE49-F238E27FC236}">
                <a16:creationId xmlns:a16="http://schemas.microsoft.com/office/drawing/2014/main" id="{EA914B5F-0666-43BE-9390-34A2FD87D1F1}"/>
              </a:ext>
            </a:extLst>
          </p:cNvPr>
          <p:cNvSpPr>
            <a:spLocks xmlns:a="http://schemas.openxmlformats.org/drawingml/2006/main" noGrp="1"/>
          </p:cNvSpPr>
          <p:nvPr/>
        </p:nvSpPr>
        <p:spPr>
          <a:xfrm xmlns:a="http://schemas.openxmlformats.org/drawingml/2006/main">
            <a:off x="8153400" y="4391025"/>
            <a:ext cx="3371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B775C"/>
                </a:solidFill>
                <a:latin typeface="Arial"/>
                <a:ea typeface="Arial"/>
                <a:cs typeface="Arial"/>
              </a:defRPr>
            </a:defPPr>
          </a:lstStyle>
          <a:p xmlns:a="http://schemas.openxmlformats.org/drawingml/2006/main">
            <a:pPr algn="l">
              <a:lnSpc>
                <a:spcPct val="110000"/>
              </a:lnSpc>
              <a:buNone/>
              <a:defRPr sz="2325" b="1">
                <a:solidFill>
                  <a:srgbClr val="2B775C"/>
                </a:solidFill>
                <a:latin typeface="Arial"/>
                <a:ea typeface="Arial"/>
                <a:cs typeface="Arial"/>
              </a:defRPr>
            </a:pPr>
            <a:r>
              <a:rPr sz="2325" b="1">
                <a:solidFill>
                  <a:srgbClr val="2B775C"/>
                </a:solidFill>
                <a:latin typeface="Arial"/>
                <a:ea typeface="Arial"/>
                <a:cs typeface="Arial"/>
              </a:rPr>
              <a:t>₹8,748 central profit</a:t>
            </a:r>
          </a:p>
        </p:txBody>
      </p:sp>
      <p:sp>
        <p:nvSpPr>
          <p:cNvPr id="9" name="app-low">
            <a:extLst xmlns:a="http://schemas.openxmlformats.org/drawingml/2006/main">
              <a:ext uri="{FF2B5EF4-FFF2-40B4-BE49-F238E27FC236}">
                <a16:creationId xmlns:a16="http://schemas.microsoft.com/office/drawing/2014/main" id="{4E02CFBB-24BB-4551-89C4-F8986DF0C308}"/>
              </a:ext>
            </a:extLst>
          </p:cNvPr>
          <p:cNvSpPr>
            <a:spLocks xmlns:a="http://schemas.openxmlformats.org/drawingml/2006/main" noGrp="1"/>
          </p:cNvSpPr>
          <p:nvPr/>
        </p:nvSpPr>
        <p:spPr>
          <a:xfrm xmlns:a="http://schemas.openxmlformats.org/drawingml/2006/main">
            <a:off x="8153400" y="5000625"/>
            <a:ext cx="3371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85F35"/>
                </a:solidFill>
                <a:latin typeface="Arial"/>
                <a:ea typeface="Arial"/>
                <a:cs typeface="Arial"/>
              </a:defRPr>
            </a:defPPr>
          </a:lstStyle>
          <a:p xmlns:a="http://schemas.openxmlformats.org/drawingml/2006/main">
            <a:pPr algn="l">
              <a:lnSpc>
                <a:spcPct val="110000"/>
              </a:lnSpc>
              <a:buNone/>
              <a:defRPr sz="2100" b="1">
                <a:solidFill>
                  <a:srgbClr val="B85F35"/>
                </a:solidFill>
                <a:latin typeface="Arial"/>
                <a:ea typeface="Arial"/>
                <a:cs typeface="Arial"/>
              </a:defRPr>
            </a:pPr>
            <a:r>
              <a:rPr sz="2100" b="1">
                <a:solidFill>
                  <a:srgbClr val="B85F35"/>
                </a:solidFill>
                <a:latin typeface="Arial"/>
                <a:ea typeface="Arial"/>
                <a:cs typeface="Arial"/>
              </a:rPr>
              <a:t>−₹4,741 pessimistic profit</a:t>
            </a:r>
          </a:p>
        </p:txBody>
      </p:sp>
      <p:sp>
        <p:nvSpPr>
          <p:cNvPr id="10" name="footnote-10">
            <a:extLst xmlns:a="http://schemas.openxmlformats.org/drawingml/2006/main">
              <a:ext uri="{FF2B5EF4-FFF2-40B4-BE49-F238E27FC236}">
                <a16:creationId xmlns:a16="http://schemas.microsoft.com/office/drawing/2014/main" id="{2BDF11AA-A24C-4956-93A4-A98E54201B66}"/>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Existing UI retains legacy labels. Values here are modeled scenarios, not assured income.</a:t>
            </a:r>
          </a:p>
        </p:txBody>
      </p:sp>
    </p:spTree>
    <p:extLst>
      <p:ext uri="{BB962C8B-B14F-4D97-AF65-F5344CB8AC3E}">
        <p14:creationId xmlns:p14="http://schemas.microsoft.com/office/powerpoint/2010/main" val="1835949899"/>
      </p:ext>
    </p:extLst>
  </p:cSld>
</p:sld>
</file>

<file path=ppt/slides/slide11.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0" name="title-11">
            <a:extLst xmlns:a="http://schemas.openxmlformats.org/drawingml/2006/main">
              <a:ext uri="{FF2B5EF4-FFF2-40B4-BE49-F238E27FC236}">
                <a16:creationId xmlns:a16="http://schemas.microsoft.com/office/drawing/2014/main" id="{E19CA86E-FBE4-4F03-B807-7FCAAED5EEC4}"/>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Historical yield results</a:t>
            </a:r>
          </a:p>
        </p:txBody>
      </p:sp>
      <p:sp>
        <p:nvSpPr>
          <p:cNvPr id="2" name="subtitle-11">
            <a:extLst xmlns:a="http://schemas.openxmlformats.org/drawingml/2006/main">
              <a:ext uri="{FF2B5EF4-FFF2-40B4-BE49-F238E27FC236}">
                <a16:creationId xmlns:a16="http://schemas.microsoft.com/office/drawing/2014/main" id="{1559EE2A-D587-462E-87B6-CD817C853985}"/>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Saved walk-forward backtest outputs for 2015–2019</a:t>
            </a:r>
          </a:p>
        </p:txBody>
      </p:sp>
      <p:sp>
        <p:nvSpPr>
          <p:cNvPr id="3" name="page-11">
            <a:extLst xmlns:a="http://schemas.openxmlformats.org/drawingml/2006/main">
              <a:ext uri="{FF2B5EF4-FFF2-40B4-BE49-F238E27FC236}">
                <a16:creationId xmlns:a16="http://schemas.microsoft.com/office/drawing/2014/main" id="{2257335C-1B98-45E9-A8C8-CE83DC8AB8DB}"/>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11</a:t>
            </a:r>
          </a:p>
        </p:txBody>
      </p:sp>
      <p:graphicFrame>
        <p:nvGraphicFramePr>
          <p:cNvPr id="4" name="Chart">
            <a:extLst xmlns:a="http://schemas.openxmlformats.org/drawingml/2006/main">
              <a:ext uri="{FF2B5EF4-FFF2-40B4-BE49-F238E27FC236}">
                <a16:creationId xmlns:a16="http://schemas.microsoft.com/office/drawing/2014/main" id="{B999ED84-2A03-4BAB-B06D-BDF69FBF3B89}"/>
              </a:ext>
            </a:extLst>
          </p:cNvPr>
          <p:cNvGraphicFramePr/>
          <p:nvPr/>
        </p:nvGraphicFramePr>
        <p:xfrm>
          <a:off xmlns:a="http://schemas.openxmlformats.org/drawingml/2006/main" x="561975" y="2019300"/>
          <a:ext xmlns:a="http://schemas.openxmlformats.org/drawingml/2006/main" cx="7848600" cy="3638550"/>
        </p:xfrm>
        <a:graphic xmlns:a="http://schemas.openxmlformats.org/drawingml/2006/main">
          <a:graphicData uri="http://schemas.openxmlformats.org/drawingml/2006/chart">
            <c:chart xmlns:r="http://schemas.openxmlformats.org/officeDocument/2006/relationships" xmlns:c="http://schemas.openxmlformats.org/drawingml/2006/chart" r:id="R21d873a0e9764de0"/>
          </a:graphicData>
        </a:graphic>
      </p:graphicFrame>
      <p:sp>
        <p:nvSpPr>
          <p:cNvPr id="5" name="yield-chart-label">
            <a:extLst xmlns:a="http://schemas.openxmlformats.org/drawingml/2006/main">
              <a:ext uri="{FF2B5EF4-FFF2-40B4-BE49-F238E27FC236}">
                <a16:creationId xmlns:a16="http://schemas.microsoft.com/office/drawing/2014/main" id="{28D2B0C6-0B5B-435D-B03A-5102AD5C9C13}"/>
              </a:ext>
            </a:extLst>
          </p:cNvPr>
          <p:cNvSpPr>
            <a:spLocks xmlns:a="http://schemas.openxmlformats.org/drawingml/2006/main" noGrp="1"/>
          </p:cNvSpPr>
          <p:nvPr/>
        </p:nvSpPr>
        <p:spPr>
          <a:xfrm xmlns:a="http://schemas.openxmlformats.org/drawingml/2006/main">
            <a:off x="590550" y="1714500"/>
            <a:ext cx="762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3A32"/>
                </a:solidFill>
                <a:latin typeface="Arial"/>
                <a:ea typeface="Arial"/>
                <a:cs typeface="Arial"/>
              </a:defRPr>
            </a:defPPr>
          </a:lstStyle>
          <a:p xmlns:a="http://schemas.openxmlformats.org/drawingml/2006/main">
            <a:pPr algn="l">
              <a:lnSpc>
                <a:spcPct val="110000"/>
              </a:lnSpc>
              <a:buNone/>
              <a:defRPr sz="1950" b="1">
                <a:solidFill>
                  <a:srgbClr val="173A32"/>
                </a:solidFill>
                <a:latin typeface="Arial"/>
                <a:ea typeface="Arial"/>
                <a:cs typeface="Arial"/>
              </a:defRPr>
            </a:pPr>
            <a:r>
              <a:rPr sz="1950" b="1">
                <a:solidFill>
                  <a:srgbClr val="173A32"/>
                </a:solidFill>
                <a:latin typeface="Arial"/>
                <a:ea typeface="Arial"/>
                <a:cs typeface="Arial"/>
              </a:rPr>
              <a:t>RMSE reduction relative to baseline</a:t>
            </a:r>
          </a:p>
        </p:txBody>
      </p:sp>
      <p:sp>
        <p:nvSpPr>
          <p:cNvPr id="6" name="overall-rmse">
            <a:extLst xmlns:a="http://schemas.openxmlformats.org/drawingml/2006/main">
              <a:ext uri="{FF2B5EF4-FFF2-40B4-BE49-F238E27FC236}">
                <a16:creationId xmlns:a16="http://schemas.microsoft.com/office/drawing/2014/main" id="{2028DF41-FD82-4363-A886-1D150B811B40}"/>
              </a:ext>
            </a:extLst>
          </p:cNvPr>
          <p:cNvSpPr>
            <a:spLocks xmlns:a="http://schemas.openxmlformats.org/drawingml/2006/main" noGrp="1"/>
          </p:cNvSpPr>
          <p:nvPr/>
        </p:nvSpPr>
        <p:spPr>
          <a:xfrm xmlns:a="http://schemas.openxmlformats.org/drawingml/2006/main">
            <a:off x="8782050" y="2066925"/>
            <a:ext cx="28384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Overall RMSE (t/ha)</a:t>
            </a:r>
          </a:p>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Baseline  4.6048</a:t>
            </a:r>
          </a:p>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Model      4.6189</a:t>
            </a:r>
          </a:p>
        </p:txBody>
      </p:sp>
      <p:sp>
        <p:nvSpPr>
          <p:cNvPr id="7" name="yield-coverage">
            <a:extLst xmlns:a="http://schemas.openxmlformats.org/drawingml/2006/main">
              <a:ext uri="{FF2B5EF4-FFF2-40B4-BE49-F238E27FC236}">
                <a16:creationId xmlns:a16="http://schemas.microsoft.com/office/drawing/2014/main" id="{C5DB14D3-CC69-451E-A64C-B6C5214BD9B2}"/>
              </a:ext>
            </a:extLst>
          </p:cNvPr>
          <p:cNvSpPr>
            <a:spLocks xmlns:a="http://schemas.openxmlformats.org/drawingml/2006/main" noGrp="1"/>
          </p:cNvSpPr>
          <p:nvPr/>
        </p:nvSpPr>
        <p:spPr>
          <a:xfrm xmlns:a="http://schemas.openxmlformats.org/drawingml/2006/main">
            <a:off x="8782050" y="3790950"/>
            <a:ext cx="2819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2B775C"/>
                </a:solidFill>
                <a:latin typeface="Arial"/>
                <a:ea typeface="Arial"/>
                <a:cs typeface="Arial"/>
              </a:defRPr>
            </a:defPPr>
          </a:lstStyle>
          <a:p xmlns:a="http://schemas.openxmlformats.org/drawingml/2006/main">
            <a:pPr algn="l">
              <a:lnSpc>
                <a:spcPct val="110000"/>
              </a:lnSpc>
              <a:buNone/>
              <a:defRPr sz="3675" b="1">
                <a:solidFill>
                  <a:srgbClr val="2B775C"/>
                </a:solidFill>
                <a:latin typeface="Arial"/>
                <a:ea typeface="Arial"/>
                <a:cs typeface="Arial"/>
              </a:defRPr>
            </a:pPr>
            <a:r>
              <a:rPr sz="3675" b="1">
                <a:solidFill>
                  <a:srgbClr val="2B775C"/>
                </a:solidFill>
                <a:latin typeface="Arial"/>
                <a:ea typeface="Arial"/>
                <a:cs typeface="Arial"/>
              </a:rPr>
              <a:t>78.09%</a:t>
            </a:r>
          </a:p>
        </p:txBody>
      </p:sp>
      <p:sp>
        <p:nvSpPr>
          <p:cNvPr id="8" name="coverage-caption">
            <a:extLst xmlns:a="http://schemas.openxmlformats.org/drawingml/2006/main">
              <a:ext uri="{FF2B5EF4-FFF2-40B4-BE49-F238E27FC236}">
                <a16:creationId xmlns:a16="http://schemas.microsoft.com/office/drawing/2014/main" id="{B1C2DABC-617A-4E0F-90B3-200048F936AE}"/>
              </a:ext>
            </a:extLst>
          </p:cNvPr>
          <p:cNvSpPr>
            <a:spLocks xmlns:a="http://schemas.openxmlformats.org/drawingml/2006/main" noGrp="1"/>
          </p:cNvSpPr>
          <p:nvPr/>
        </p:nvSpPr>
        <p:spPr>
          <a:xfrm xmlns:a="http://schemas.openxmlformats.org/drawingml/2006/main">
            <a:off x="8782050" y="4467225"/>
            <a:ext cx="28194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55D"/>
                </a:solidFill>
                <a:latin typeface="Arial"/>
                <a:ea typeface="Arial"/>
                <a:cs typeface="Arial"/>
              </a:defRPr>
            </a:defPPr>
          </a:lstStyle>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interval coverage</a:t>
            </a:r>
          </a:p>
          <a:p xmlns:a="http://schemas.openxmlformats.org/drawingml/2006/main">
            <a:pPr algn="l">
              <a:lnSpc>
                <a:spcPct val="110000"/>
              </a:lnSpc>
              <a:buNone/>
              <a:defRPr sz="2025" b="0">
                <a:solidFill>
                  <a:srgbClr val="52655D"/>
                </a:solidFill>
                <a:latin typeface="Arial"/>
                <a:ea typeface="Arial"/>
                <a:cs typeface="Arial"/>
              </a:defRPr>
            </a:pPr>
            <a:r>
              <a:rPr sz="2025" b="0">
                <a:solidFill>
                  <a:srgbClr val="52655D"/>
                </a:solidFill>
                <a:latin typeface="Arial"/>
                <a:ea typeface="Arial"/>
                <a:cs typeface="Arial"/>
              </a:rPr>
              <a:t>80% nominal target</a:t>
            </a:r>
          </a:p>
        </p:txBody>
      </p:sp>
      <p:sp>
        <p:nvSpPr>
          <p:cNvPr id="9" name="footnote-11">
            <a:extLst xmlns:a="http://schemas.openxmlformats.org/drawingml/2006/main">
              <a:ext uri="{FF2B5EF4-FFF2-40B4-BE49-F238E27FC236}">
                <a16:creationId xmlns:a16="http://schemas.microsoft.com/office/drawing/2014/main" id="{CF24BF84-A178-4E19-B9D0-40E773807C91}"/>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Best saved overall point predictor: baseline. Prospective accuracy needs further evaluation.</a:t>
            </a:r>
          </a:p>
        </p:txBody>
      </p:sp>
    </p:spTree>
    <p:extLst>
      <p:ext uri="{BB962C8B-B14F-4D97-AF65-F5344CB8AC3E}">
        <p14:creationId xmlns:p14="http://schemas.microsoft.com/office/powerpoint/2010/main" val="1869540950"/>
      </p:ext>
    </p:extLst>
  </p:cSld>
</p:sld>
</file>

<file path=ppt/slides/slide12.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792509D0-70C0-4DA4-8ABD-4DEA6D2B8639}"/>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Historical recommendation results</a:t>
            </a:r>
          </a:p>
        </p:txBody>
      </p:sp>
      <p:sp>
        <p:nvSpPr>
          <p:cNvPr id="2" name="subtitle-12">
            <a:extLst xmlns:a="http://schemas.openxmlformats.org/drawingml/2006/main">
              <a:ext uri="{FF2B5EF4-FFF2-40B4-BE49-F238E27FC236}">
                <a16:creationId xmlns:a16="http://schemas.microsoft.com/office/drawing/2014/main" id="{ADFC4BB3-F7BF-4658-97BF-BD8AA40E9784}"/>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Targets use simulated prices and cultivation-cost proxies</a:t>
            </a:r>
          </a:p>
        </p:txBody>
      </p:sp>
      <p:sp>
        <p:nvSpPr>
          <p:cNvPr id="3" name="page-12">
            <a:extLst xmlns:a="http://schemas.openxmlformats.org/drawingml/2006/main">
              <a:ext uri="{FF2B5EF4-FFF2-40B4-BE49-F238E27FC236}">
                <a16:creationId xmlns:a16="http://schemas.microsoft.com/office/drawing/2014/main" id="{4B94FFA1-F5D7-4FDA-A8DF-E972D2503E99}"/>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12</a:t>
            </a:r>
          </a:p>
        </p:txBody>
      </p:sp>
      <p:sp>
        <p:nvSpPr>
          <p:cNvPr id="4" name="ranking-title-0">
            <a:extLst xmlns:a="http://schemas.openxmlformats.org/drawingml/2006/main">
              <a:ext uri="{FF2B5EF4-FFF2-40B4-BE49-F238E27FC236}">
                <a16:creationId xmlns:a16="http://schemas.microsoft.com/office/drawing/2014/main" id="{6168B362-251D-45CE-9047-3DCE54D9D804}"/>
              </a:ext>
            </a:extLst>
          </p:cNvPr>
          <p:cNvSpPr>
            <a:spLocks xmlns:a="http://schemas.openxmlformats.org/drawingml/2006/main" noGrp="1"/>
          </p:cNvSpPr>
          <p:nvPr/>
        </p:nvSpPr>
        <p:spPr>
          <a:xfrm xmlns:a="http://schemas.openxmlformats.org/drawingml/2006/main">
            <a:off x="600075" y="1781175"/>
            <a:ext cx="530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3A32"/>
                </a:solidFill>
                <a:latin typeface="Arial"/>
                <a:ea typeface="Arial"/>
                <a:cs typeface="Arial"/>
              </a:defRPr>
            </a:defPPr>
          </a:lstStyle>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NDCG@3</a:t>
            </a:r>
          </a:p>
        </p:txBody>
      </p:sp>
      <p:graphicFrame>
        <p:nvGraphicFramePr>
          <p:cNvPr id="5" name="Chart">
            <a:extLst xmlns:a="http://schemas.openxmlformats.org/drawingml/2006/main">
              <a:ext uri="{FF2B5EF4-FFF2-40B4-BE49-F238E27FC236}">
                <a16:creationId xmlns:a16="http://schemas.microsoft.com/office/drawing/2014/main" id="{4B675D37-0A6D-4D5F-AA6A-53EC7E7FCEA5}"/>
              </a:ext>
            </a:extLst>
          </p:cNvPr>
          <p:cNvGraphicFramePr/>
          <p:nvPr/>
        </p:nvGraphicFramePr>
        <p:xfrm>
          <a:off xmlns:a="http://schemas.openxmlformats.org/drawingml/2006/main" x="600075" y="2419350"/>
          <a:ext xmlns:a="http://schemas.openxmlformats.org/drawingml/2006/main" cx="5238750" cy="2886075"/>
        </p:xfrm>
        <a:graphic xmlns:a="http://schemas.openxmlformats.org/drawingml/2006/main">
          <a:graphicData uri="http://schemas.openxmlformats.org/drawingml/2006/chart">
            <c:chart xmlns:r="http://schemas.openxmlformats.org/officeDocument/2006/relationships" xmlns:c="http://schemas.openxmlformats.org/drawingml/2006/chart" r:id="Re47bb5d0f265477d"/>
          </a:graphicData>
        </a:graphic>
      </p:graphicFrame>
      <p:sp>
        <p:nvSpPr>
          <p:cNvPr id="6" name="ranking-title-1">
            <a:extLst xmlns:a="http://schemas.openxmlformats.org/drawingml/2006/main">
              <a:ext uri="{FF2B5EF4-FFF2-40B4-BE49-F238E27FC236}">
                <a16:creationId xmlns:a16="http://schemas.microsoft.com/office/drawing/2014/main" id="{5FFF64D5-63D6-48A4-8C27-5B294B5818D8}"/>
              </a:ext>
            </a:extLst>
          </p:cNvPr>
          <p:cNvSpPr>
            <a:spLocks xmlns:a="http://schemas.openxmlformats.org/drawingml/2006/main" noGrp="1"/>
          </p:cNvSpPr>
          <p:nvPr/>
        </p:nvSpPr>
        <p:spPr>
          <a:xfrm xmlns:a="http://schemas.openxmlformats.org/drawingml/2006/main">
            <a:off x="6276975" y="1781175"/>
            <a:ext cx="530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3A32"/>
                </a:solidFill>
                <a:latin typeface="Arial"/>
                <a:ea typeface="Arial"/>
                <a:cs typeface="Arial"/>
              </a:defRPr>
            </a:defPPr>
          </a:lstStyle>
          <a:p xmlns:a="http://schemas.openxmlformats.org/drawingml/2006/main">
            <a:pPr algn="l">
              <a:lnSpc>
                <a:spcPct val="110000"/>
              </a:lnSpc>
              <a:buNone/>
              <a:defRPr sz="2175" b="1">
                <a:solidFill>
                  <a:srgbClr val="173A32"/>
                </a:solidFill>
                <a:latin typeface="Arial"/>
                <a:ea typeface="Arial"/>
                <a:cs typeface="Arial"/>
              </a:defRPr>
            </a:pPr>
            <a:r>
              <a:rPr sz="2175" b="1">
                <a:solidFill>
                  <a:srgbClr val="173A32"/>
                </a:solidFill>
                <a:latin typeface="Arial"/>
                <a:ea typeface="Arial"/>
                <a:cs typeface="Arial"/>
              </a:rPr>
              <a:t>Top choice in realized top 3</a:t>
            </a:r>
          </a:p>
        </p:txBody>
      </p:sp>
      <p:graphicFrame>
        <p:nvGraphicFramePr>
          <p:cNvPr id="7" name="Chart">
            <a:extLst xmlns:a="http://schemas.openxmlformats.org/drawingml/2006/main">
              <a:ext uri="{FF2B5EF4-FFF2-40B4-BE49-F238E27FC236}">
                <a16:creationId xmlns:a16="http://schemas.microsoft.com/office/drawing/2014/main" id="{879CF5F2-9828-41A3-91D7-88DC0EB2AF93}"/>
              </a:ext>
            </a:extLst>
          </p:cNvPr>
          <p:cNvGraphicFramePr/>
          <p:nvPr/>
        </p:nvGraphicFramePr>
        <p:xfrm>
          <a:off xmlns:a="http://schemas.openxmlformats.org/drawingml/2006/main" x="6276975" y="2419350"/>
          <a:ext xmlns:a="http://schemas.openxmlformats.org/drawingml/2006/main" cx="5238750" cy="2886075"/>
        </p:xfrm>
        <a:graphic xmlns:a="http://schemas.openxmlformats.org/drawingml/2006/main">
          <a:graphicData uri="http://schemas.openxmlformats.org/drawingml/2006/chart">
            <c:chart xmlns:r="http://schemas.openxmlformats.org/officeDocument/2006/relationships" xmlns:c="http://schemas.openxmlformats.org/drawingml/2006/chart" r:id="R0c7c2d8aa35a4eb2"/>
          </a:graphicData>
        </a:graphic>
      </p:graphicFrame>
      <p:sp>
        <p:nvSpPr>
          <p:cNvPr id="8" name="ranking-conclusion">
            <a:extLst xmlns:a="http://schemas.openxmlformats.org/drawingml/2006/main">
              <a:ext uri="{FF2B5EF4-FFF2-40B4-BE49-F238E27FC236}">
                <a16:creationId xmlns:a16="http://schemas.microsoft.com/office/drawing/2014/main" id="{F61A7596-B443-4CAB-9CE3-F26D27435E1A}"/>
              </a:ext>
            </a:extLst>
          </p:cNvPr>
          <p:cNvSpPr>
            <a:spLocks xmlns:a="http://schemas.openxmlformats.org/drawingml/2006/main" noGrp="1"/>
          </p:cNvSpPr>
          <p:nvPr/>
        </p:nvSpPr>
        <p:spPr>
          <a:xfrm xmlns:a="http://schemas.openxmlformats.org/drawingml/2006/main">
            <a:off x="609600" y="5638800"/>
            <a:ext cx="10715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3A32"/>
                </a:solidFill>
                <a:latin typeface="Arial"/>
                <a:ea typeface="Arial"/>
                <a:cs typeface="Arial"/>
              </a:defRPr>
            </a:defPPr>
          </a:lstStyle>
          <a:p xmlns:a="http://schemas.openxmlformats.org/drawingml/2006/main">
            <a:pPr algn="l">
              <a:lnSpc>
                <a:spcPct val="110000"/>
              </a:lnSpc>
              <a:buNone/>
              <a:defRPr sz="2250" b="1">
                <a:solidFill>
                  <a:srgbClr val="173A32"/>
                </a:solidFill>
                <a:latin typeface="Arial"/>
                <a:ea typeface="Arial"/>
                <a:cs typeface="Arial"/>
              </a:defRPr>
            </a:pPr>
            <a:r>
              <a:rPr sz="2250" b="1">
                <a:solidFill>
                  <a:srgbClr val="173A32"/>
                </a:solidFill>
                <a:latin typeface="Arial"/>
                <a:ea typeface="Arial"/>
                <a:cs typeface="Arial"/>
              </a:rPr>
              <a:t>The previous-year baseline leads on both saved ranking metrics.</a:t>
            </a:r>
          </a:p>
        </p:txBody>
      </p:sp>
      <p:sp>
        <p:nvSpPr>
          <p:cNvPr id="9" name="footnote-12">
            <a:extLst xmlns:a="http://schemas.openxmlformats.org/drawingml/2006/main">
              <a:ext uri="{FF2B5EF4-FFF2-40B4-BE49-F238E27FC236}">
                <a16:creationId xmlns:a16="http://schemas.microsoft.com/office/drawing/2014/main" id="{1B8F42A4-7970-4C49-951D-24E36E624AF3}"/>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Historical reference only. These results do not demonstrate improved farmer income.</a:t>
            </a:r>
          </a:p>
        </p:txBody>
      </p:sp>
    </p:spTree>
    <p:extLst>
      <p:ext uri="{BB962C8B-B14F-4D97-AF65-F5344CB8AC3E}">
        <p14:creationId xmlns:p14="http://schemas.microsoft.com/office/powerpoint/2010/main" val="1826331356"/>
      </p:ext>
    </p:extLst>
  </p:cSld>
</p:sld>
</file>

<file path=ppt/slides/slide13.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6" name="title-13">
            <a:extLst xmlns:a="http://schemas.openxmlformats.org/drawingml/2006/main">
              <a:ext uri="{FF2B5EF4-FFF2-40B4-BE49-F238E27FC236}">
                <a16:creationId xmlns:a16="http://schemas.microsoft.com/office/drawing/2014/main" id="{079E32EB-C5CA-412B-914E-5165555929BC}"/>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Challenges and safeguards</a:t>
            </a:r>
          </a:p>
        </p:txBody>
      </p:sp>
      <p:sp>
        <p:nvSpPr>
          <p:cNvPr id="2" name="subtitle-13">
            <a:extLst xmlns:a="http://schemas.openxmlformats.org/drawingml/2006/main">
              <a:ext uri="{FF2B5EF4-FFF2-40B4-BE49-F238E27FC236}">
                <a16:creationId xmlns:a16="http://schemas.microsoft.com/office/drawing/2014/main" id="{5CD364C8-8AF4-4A48-91D3-FCA460DFCE3A}"/>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Reliability requirements for the regional workflow</a:t>
            </a:r>
          </a:p>
        </p:txBody>
      </p:sp>
      <p:sp>
        <p:nvSpPr>
          <p:cNvPr id="3" name="page-13">
            <a:extLst xmlns:a="http://schemas.openxmlformats.org/drawingml/2006/main">
              <a:ext uri="{FF2B5EF4-FFF2-40B4-BE49-F238E27FC236}">
                <a16:creationId xmlns:a16="http://schemas.microsoft.com/office/drawing/2014/main" id="{4BEAFF24-E7A9-44CB-9CBC-0489AAB6BAFC}"/>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C70C6564-29AF-4B30-A183-E0717604D79B}"/>
              </a:ext>
            </a:extLst>
          </p:cNvPr>
          <p:cNvGraphicFramePr/>
          <p:nvPr/>
        </p:nvGraphicFramePr>
        <p:xfrm>
          <a:off xmlns:a="http://schemas.openxmlformats.org/drawingml/2006/main" x="600075" y="1905000"/>
          <a:ext xmlns:a="http://schemas.openxmlformats.org/drawingml/2006/main" cx="10991850" cy="3209925"/>
        </p:xfrm>
        <a:graphic xmlns:a="http://schemas.openxmlformats.org/drawingml/2006/main">
          <a:graphicData uri="http://schemas.openxmlformats.org/drawingml/2006/table">
            <a:tbl>
              <a:tblPr firstRow="1" bandRow="0"/>
              <a:tblGrid>
                <a:gridCol w="3790950"/>
                <a:gridCol w="7200900"/>
              </a:tblGrid>
              <a:tr h="641985">
                <a:tc>
                  <a:txBody>
                    <a:bodyPr lIns="142875" tIns="95250" rIns="142875" bIns="95250"/>
                    <a:lstStyle/>
                    <a:p>
                      <a:r>
                        <a:rPr sz="2100" b="1">
                          <a:solidFill>
                            <a:srgbClr val="FFFFFF"/>
                          </a:solidFill>
                          <a:latin typeface="Arial"/>
                          <a:ea typeface="Arial"/>
                          <a:cs typeface="Arial"/>
                        </a:rPr>
                        <a:t>Challenge</a:t>
                      </a:r>
                    </a:p>
                  </a:txBody>
                  <a:tcPr marL="91440" marR="91440" marT="45720" marB="45720" anchor="ctr">
                    <a:solidFill>
                      <a:srgbClr val="173A32"/>
                    </a:solidFill>
                  </a:tcPr>
                </a:tc>
                <a:tc>
                  <a:txBody>
                    <a:bodyPr lIns="142875" tIns="95250" rIns="142875" bIns="95250"/>
                    <a:lstStyle/>
                    <a:p>
                      <a:r>
                        <a:rPr sz="2100" b="1">
                          <a:solidFill>
                            <a:srgbClr val="FFFFFF"/>
                          </a:solidFill>
                          <a:latin typeface="Arial"/>
                          <a:ea typeface="Arial"/>
                          <a:cs typeface="Arial"/>
                        </a:rPr>
                        <a:t>Safeguard</a:t>
                      </a:r>
                    </a:p>
                  </a:txBody>
                  <a:tcPr marL="91440" marR="91440" marT="45720" marB="45720" anchor="ctr">
                    <a:solidFill>
                      <a:srgbClr val="173A32"/>
                    </a:solidFill>
                  </a:tcPr>
                </a:tc>
              </a:tr>
              <a:tr h="641985">
                <a:tc>
                  <a:txBody>
                    <a:bodyPr lIns="142875" tIns="95250" rIns="142875" bIns="95250"/>
                    <a:lstStyle/>
                    <a:p>
                      <a:r>
                        <a:rPr sz="2100" b="0">
                          <a:solidFill>
                            <a:srgbClr val="173A32"/>
                          </a:solidFill>
                          <a:latin typeface="Arial"/>
                          <a:ea typeface="Arial"/>
                          <a:cs typeface="Arial"/>
                        </a:rPr>
                        <a:t>Future information</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Past-only features and train-period statistics</a:t>
                      </a:r>
                    </a:p>
                  </a:txBody>
                  <a:tcPr marL="91440" marR="91440" marT="45720" marB="45720" anchor="ctr">
                    <a:solidFill>
                      <a:srgbClr val="F5F4EB"/>
                    </a:solidFill>
                  </a:tcPr>
                </a:tc>
              </a:tr>
              <a:tr h="641985">
                <a:tc>
                  <a:txBody>
                    <a:bodyPr lIns="142875" tIns="95250" rIns="142875" bIns="95250"/>
                    <a:lstStyle/>
                    <a:p>
                      <a:r>
                        <a:rPr sz="2100" b="0">
                          <a:solidFill>
                            <a:srgbClr val="173A32"/>
                          </a:solidFill>
                          <a:latin typeface="Arial"/>
                          <a:ea typeface="Arial"/>
                          <a:cs typeface="Arial"/>
                        </a:rPr>
                        <a:t>Concurrent commitments</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Atomic caps, positive area and safe retries</a:t>
                      </a:r>
                    </a:p>
                  </a:txBody>
                  <a:tcPr marL="91440" marR="91440" marT="45720" marB="45720" anchor="ctr">
                    <a:solidFill>
                      <a:srgbClr val="F5F4EB"/>
                    </a:solidFill>
                  </a:tcPr>
                </a:tc>
              </a:tr>
              <a:tr h="641985">
                <a:tc>
                  <a:txBody>
                    <a:bodyPr lIns="142875" tIns="95250" rIns="142875" bIns="95250"/>
                    <a:lstStyle/>
                    <a:p>
                      <a:r>
                        <a:rPr sz="2100" b="0">
                          <a:solidFill>
                            <a:srgbClr val="173A32"/>
                          </a:solidFill>
                          <a:latin typeface="Arial"/>
                          <a:ea typeface="Arial"/>
                          <a:cs typeface="Arial"/>
                        </a:rPr>
                        <a:t>Costs and units</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One score with consistent cost and units</a:t>
                      </a:r>
                    </a:p>
                  </a:txBody>
                  <a:tcPr marL="91440" marR="91440" marT="45720" marB="45720" anchor="ctr">
                    <a:solidFill>
                      <a:srgbClr val="F5F4EB"/>
                    </a:solidFill>
                  </a:tcPr>
                </a:tc>
              </a:tr>
              <a:tr h="641985">
                <a:tc>
                  <a:txBody>
                    <a:bodyPr lIns="142875" tIns="95250" rIns="142875" bIns="95250"/>
                    <a:lstStyle/>
                    <a:p>
                      <a:r>
                        <a:rPr sz="2100" b="0">
                          <a:solidFill>
                            <a:srgbClr val="173A32"/>
                          </a:solidFill>
                          <a:latin typeface="Arial"/>
                          <a:ea typeface="Arial"/>
                          <a:cs typeface="Arial"/>
                        </a:rPr>
                        <a:t>Stale or missing data</a:t>
                      </a:r>
                    </a:p>
                  </a:txBody>
                  <a:tcPr marL="91440" marR="91440" marT="45720" marB="45720" anchor="ctr">
                    <a:solidFill>
                      <a:srgbClr val="F5F4EB"/>
                    </a:solidFill>
                  </a:tcPr>
                </a:tc>
                <a:tc>
                  <a:txBody>
                    <a:bodyPr lIns="142875" tIns="95250" rIns="142875" bIns="95250"/>
                    <a:lstStyle/>
                    <a:p>
                      <a:r>
                        <a:rPr sz="2100" b="0">
                          <a:solidFill>
                            <a:srgbClr val="173A32"/>
                          </a:solidFill>
                          <a:latin typeface="Arial"/>
                          <a:ea typeface="Arial"/>
                          <a:cs typeface="Arial"/>
                        </a:rPr>
                        <a:t>Visible data date and unavailable-data message</a:t>
                      </a:r>
                    </a:p>
                  </a:txBody>
                  <a:tcPr marL="91440" marR="91440" marT="45720" marB="45720" anchor="ctr">
                    <a:solidFill>
                      <a:srgbClr val="F5F4EB"/>
                    </a:solidFill>
                  </a:tcPr>
                </a:tc>
              </a:tr>
            </a:tbl>
          </a:graphicData>
        </a:graphic>
      </p:graphicFrame>
      <p:sp>
        <p:nvSpPr>
          <p:cNvPr id="5" name="verification">
            <a:extLst xmlns:a="http://schemas.openxmlformats.org/drawingml/2006/main">
              <a:ext uri="{FF2B5EF4-FFF2-40B4-BE49-F238E27FC236}">
                <a16:creationId xmlns:a16="http://schemas.microsoft.com/office/drawing/2014/main" id="{3EB7D5E1-92FB-4E55-8167-D865137889A1}"/>
              </a:ext>
            </a:extLst>
          </p:cNvPr>
          <p:cNvSpPr>
            <a:spLocks xmlns:a="http://schemas.openxmlformats.org/drawingml/2006/main" noGrp="1"/>
          </p:cNvSpPr>
          <p:nvPr/>
        </p:nvSpPr>
        <p:spPr>
          <a:xfrm xmlns:a="http://schemas.openxmlformats.org/drawingml/2006/main">
            <a:off x="609600" y="5524500"/>
            <a:ext cx="10706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B775C"/>
                </a:solidFill>
                <a:latin typeface="Arial"/>
                <a:ea typeface="Arial"/>
                <a:cs typeface="Arial"/>
              </a:defRPr>
            </a:defPPr>
          </a:lstStyle>
          <a:p xmlns:a="http://schemas.openxmlformats.org/drawingml/2006/main">
            <a:pPr algn="l">
              <a:lnSpc>
                <a:spcPct val="110000"/>
              </a:lnSpc>
              <a:buNone/>
              <a:defRPr sz="2100" b="1">
                <a:solidFill>
                  <a:srgbClr val="2B775C"/>
                </a:solidFill>
                <a:latin typeface="Arial"/>
                <a:ea typeface="Arial"/>
                <a:cs typeface="Arial"/>
              </a:defRPr>
            </a:pPr>
            <a:r>
              <a:rPr sz="2100" b="1">
                <a:solidFill>
                  <a:srgbClr val="2B775C"/>
                </a:solidFill>
                <a:latin typeface="Arial"/>
                <a:ea typeface="Arial"/>
                <a:cs typeface="Arial"/>
              </a:rPr>
              <a:t>Engineering gate: no violations in historical-isolation,</a:t>
            </a:r>
          </a:p>
          <a:p xmlns:a="http://schemas.openxmlformats.org/drawingml/2006/main">
            <a:pPr algn="l">
              <a:lnSpc>
                <a:spcPct val="110000"/>
              </a:lnSpc>
              <a:buNone/>
              <a:defRPr sz="2100" b="1">
                <a:solidFill>
                  <a:srgbClr val="2B775C"/>
                </a:solidFill>
                <a:latin typeface="Arial"/>
                <a:ea typeface="Arial"/>
                <a:cs typeface="Arial"/>
              </a:defRPr>
            </a:pPr>
            <a:r>
              <a:rPr sz="2100" b="1">
                <a:solidFill>
                  <a:srgbClr val="2B775C"/>
                </a:solidFill>
                <a:latin typeface="Arial"/>
                <a:ea typeface="Arial"/>
                <a:cs typeface="Arial"/>
              </a:rPr>
              <a:t>capacity, retry/recovery and unit-reconciliation checks.</a:t>
            </a:r>
          </a:p>
        </p:txBody>
      </p:sp>
    </p:spTree>
    <p:extLst>
      <p:ext uri="{BB962C8B-B14F-4D97-AF65-F5344CB8AC3E}">
        <p14:creationId xmlns:p14="http://schemas.microsoft.com/office/powerpoint/2010/main" val="1915597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4528015-3B5E-4B3C-9681-8F9CC3F1C9A9}"/>
              </a:ext>
            </a:extLst>
          </p:cNvPr>
          <p:cNvPicPr>
            <a:picLocks xmlns:a="http://schemas.openxmlformats.org/drawingml/2006/main" noChangeAspect="1"/>
          </p:cNvPicPr>
          <p:nvPr/>
        </p:nvPicPr>
        <p:blipFill>
          <a:blip xmlns:r="http://schemas.openxmlformats.org/officeDocument/2006/relationships" xmlns:a="http://schemas.openxmlformats.org/drawingml/2006/main" r:embed="R25850abb8f3040cf"/>
          <a:srcRect xmlns:a="http://schemas.openxmlformats.org/drawingml/2006/main" l="388" t="0" r="38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reading-overlay">
            <a:extLst xmlns:a="http://schemas.openxmlformats.org/drawingml/2006/main">
              <a:ext uri="{FF2B5EF4-FFF2-40B4-BE49-F238E27FC236}">
                <a16:creationId xmlns:a16="http://schemas.microsoft.com/office/drawing/2014/main" id="{84015EE0-0398-4AFA-A6E8-03D664209C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5F4EB">
                  <a:alpha val="98000"/>
                </a:srgbClr>
              </a:gs>
              <a:gs pos="62000">
                <a:srgbClr val="F5F4EB">
                  <a:alpha val="94000"/>
                </a:srgbClr>
              </a:gs>
              <a:gs pos="100000">
                <a:srgbClr val="F5F4EB">
                  <a:alpha val="36000"/>
                </a:srgbClr>
              </a:gs>
            </a:gsLst>
            <a:lin ang="0"/>
          </a:gradFill>
          <a:ln xmlns:a="http://schemas.openxmlformats.org/drawingml/2006/main" w="0">
            <a:noFill/>
            <a:prstDash val="solid"/>
          </a:ln>
        </p:spPr>
      </p:sp>
      <p:sp>
        <p:nvSpPr>
          <p:cNvPr id="3" name="closing-title">
            <a:extLst xmlns:a="http://schemas.openxmlformats.org/drawingml/2006/main">
              <a:ext uri="{FF2B5EF4-FFF2-40B4-BE49-F238E27FC236}">
                <a16:creationId xmlns:a16="http://schemas.microsoft.com/office/drawing/2014/main" id="{9BC36C07-6874-4717-8CB3-C4F92E0A1F89}"/>
              </a:ext>
            </a:extLst>
          </p:cNvPr>
          <p:cNvSpPr>
            <a:spLocks xmlns:a="http://schemas.openxmlformats.org/drawingml/2006/main" noGrp="1"/>
          </p:cNvSpPr>
          <p:nvPr/>
        </p:nvSpPr>
        <p:spPr>
          <a:xfrm xmlns:a="http://schemas.openxmlformats.org/drawingml/2006/main">
            <a:off x="581025" y="533400"/>
            <a:ext cx="10953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173A32"/>
                </a:solidFill>
                <a:latin typeface="Arial"/>
                <a:ea typeface="Arial"/>
                <a:cs typeface="Arial"/>
              </a:defRPr>
            </a:defPPr>
          </a:lstStyle>
          <a:p xmlns:a="http://schemas.openxmlformats.org/drawingml/2006/main">
            <a:pPr algn="l">
              <a:lnSpc>
                <a:spcPct val="110000"/>
              </a:lnSpc>
              <a:buNone/>
              <a:defRPr sz="3675" b="1">
                <a:solidFill>
                  <a:srgbClr val="173A32"/>
                </a:solidFill>
                <a:latin typeface="Arial"/>
                <a:ea typeface="Arial"/>
                <a:cs typeface="Arial"/>
              </a:defRPr>
            </a:pPr>
            <a:r>
              <a:rPr sz="3675" b="1">
                <a:solidFill>
                  <a:srgbClr val="173A32"/>
                </a:solidFill>
                <a:latin typeface="Arial"/>
                <a:ea typeface="Arial"/>
                <a:cs typeface="Arial"/>
              </a:rPr>
              <a:t>Conclusion and future scope</a:t>
            </a:r>
          </a:p>
        </p:txBody>
      </p:sp>
      <p:sp>
        <p:nvSpPr>
          <p:cNvPr id="4" name="conclusion-h">
            <a:extLst xmlns:a="http://schemas.openxmlformats.org/drawingml/2006/main">
              <a:ext uri="{FF2B5EF4-FFF2-40B4-BE49-F238E27FC236}">
                <a16:creationId xmlns:a16="http://schemas.microsoft.com/office/drawing/2014/main" id="{8199CC5A-F9A7-49AA-89B3-6B9637E0132D}"/>
              </a:ext>
            </a:extLst>
          </p:cNvPr>
          <p:cNvSpPr>
            <a:spLocks xmlns:a="http://schemas.openxmlformats.org/drawingml/2006/main" noGrp="1"/>
          </p:cNvSpPr>
          <p:nvPr/>
        </p:nvSpPr>
        <p:spPr>
          <a:xfrm xmlns:a="http://schemas.openxmlformats.org/drawingml/2006/main">
            <a:off x="600075" y="1762125"/>
            <a:ext cx="1052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Regional advisory design</a:t>
            </a:r>
          </a:p>
        </p:txBody>
      </p:sp>
      <p:sp>
        <p:nvSpPr>
          <p:cNvPr id="5" name="conclusion-b">
            <a:extLst xmlns:a="http://schemas.openxmlformats.org/drawingml/2006/main">
              <a:ext uri="{FF2B5EF4-FFF2-40B4-BE49-F238E27FC236}">
                <a16:creationId xmlns:a16="http://schemas.microsoft.com/office/drawing/2014/main" id="{CB8FC605-2CC4-44EE-9035-42B4B91D20CB}"/>
              </a:ext>
            </a:extLst>
          </p:cNvPr>
          <p:cNvSpPr>
            <a:spLocks xmlns:a="http://schemas.openxmlformats.org/drawingml/2006/main" noGrp="1"/>
          </p:cNvSpPr>
          <p:nvPr/>
        </p:nvSpPr>
        <p:spPr>
          <a:xfrm xmlns:a="http://schemas.openxmlformats.org/drawingml/2006/main">
            <a:off x="600075" y="2228850"/>
            <a:ext cx="10525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2655D"/>
                </a:solidFill>
                <a:latin typeface="Arial"/>
                <a:ea typeface="Arial"/>
                <a:cs typeface="Arial"/>
              </a:defRPr>
            </a:defPPr>
          </a:lstStyle>
          <a:p xmlns:a="http://schemas.openxmlformats.org/drawingml/2006/main">
            <a:pPr algn="l">
              <a:lnSpc>
                <a:spcPct val="110000"/>
              </a:lnSpc>
              <a:buNone/>
              <a:defRPr sz="2250" b="0">
                <a:solidFill>
                  <a:srgbClr val="52655D"/>
                </a:solidFill>
                <a:latin typeface="Arial"/>
                <a:ea typeface="Arial"/>
                <a:cs typeface="Arial"/>
              </a:defRPr>
            </a:pPr>
            <a:r>
              <a:rPr sz="2250" b="0">
                <a:solidFill>
                  <a:srgbClr val="52655D"/>
                </a:solidFill>
                <a:latin typeface="Arial"/>
                <a:ea typeface="Arial"/>
                <a:cs typeface="Arial"/>
              </a:rPr>
              <a:t>A regional workflow with safeguarded planting commitments</a:t>
            </a:r>
          </a:p>
          <a:p xmlns:a="http://schemas.openxmlformats.org/drawingml/2006/main">
            <a:pPr algn="l">
              <a:lnSpc>
                <a:spcPct val="110000"/>
              </a:lnSpc>
              <a:buNone/>
              <a:defRPr sz="2250" b="0">
                <a:solidFill>
                  <a:srgbClr val="52655D"/>
                </a:solidFill>
                <a:latin typeface="Arial"/>
                <a:ea typeface="Arial"/>
                <a:cs typeface="Arial"/>
              </a:defRPr>
            </a:pPr>
            <a:r>
              <a:rPr sz="2250" b="0">
                <a:solidFill>
                  <a:srgbClr val="52655D"/>
                </a:solidFill>
                <a:latin typeface="Arial"/>
                <a:ea typeface="Arial"/>
                <a:cs typeface="Arial"/>
              </a:rPr>
              <a:t>and transparent yield and financial scenarios</a:t>
            </a:r>
          </a:p>
        </p:txBody>
      </p:sp>
      <p:sp>
        <p:nvSpPr>
          <p:cNvPr id="6" name="evidence-h">
            <a:extLst xmlns:a="http://schemas.openxmlformats.org/drawingml/2006/main">
              <a:ext uri="{FF2B5EF4-FFF2-40B4-BE49-F238E27FC236}">
                <a16:creationId xmlns:a16="http://schemas.microsoft.com/office/drawing/2014/main" id="{966DBCC4-0D33-4765-BA1E-71087D48F01F}"/>
              </a:ext>
            </a:extLst>
          </p:cNvPr>
          <p:cNvSpPr>
            <a:spLocks xmlns:a="http://schemas.openxmlformats.org/drawingml/2006/main" noGrp="1"/>
          </p:cNvSpPr>
          <p:nvPr/>
        </p:nvSpPr>
        <p:spPr>
          <a:xfrm xmlns:a="http://schemas.openxmlformats.org/drawingml/2006/main">
            <a:off x="600075" y="3352800"/>
            <a:ext cx="1052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A32"/>
                </a:solidFill>
                <a:latin typeface="Arial"/>
                <a:ea typeface="Arial"/>
                <a:cs typeface="Arial"/>
              </a:defRPr>
            </a:defPPr>
          </a:lstStyle>
          <a:p xmlns:a="http://schemas.openxmlformats.org/drawingml/2006/main">
            <a:pPr algn="l">
              <a:lnSpc>
                <a:spcPct val="110000"/>
              </a:lnSpc>
              <a:buNone/>
              <a:defRPr sz="2400" b="1">
                <a:solidFill>
                  <a:srgbClr val="173A32"/>
                </a:solidFill>
                <a:latin typeface="Arial"/>
                <a:ea typeface="Arial"/>
                <a:cs typeface="Arial"/>
              </a:defRPr>
            </a:pPr>
            <a:r>
              <a:rPr sz="2400" b="1">
                <a:solidFill>
                  <a:srgbClr val="173A32"/>
                </a:solidFill>
                <a:latin typeface="Arial"/>
                <a:ea typeface="Arial"/>
                <a:cs typeface="Arial"/>
              </a:rPr>
              <a:t>Key finding</a:t>
            </a:r>
          </a:p>
        </p:txBody>
      </p:sp>
      <p:sp>
        <p:nvSpPr>
          <p:cNvPr id="7" name="evidence-b">
            <a:extLst xmlns:a="http://schemas.openxmlformats.org/drawingml/2006/main">
              <a:ext uri="{FF2B5EF4-FFF2-40B4-BE49-F238E27FC236}">
                <a16:creationId xmlns:a16="http://schemas.microsoft.com/office/drawing/2014/main" id="{FC398CB7-452F-4C81-AEB8-BB5FF34E7881}"/>
              </a:ext>
            </a:extLst>
          </p:cNvPr>
          <p:cNvSpPr>
            <a:spLocks xmlns:a="http://schemas.openxmlformats.org/drawingml/2006/main" noGrp="1"/>
          </p:cNvSpPr>
          <p:nvPr/>
        </p:nvSpPr>
        <p:spPr>
          <a:xfrm xmlns:a="http://schemas.openxmlformats.org/drawingml/2006/main">
            <a:off x="600075" y="3819525"/>
            <a:ext cx="10525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2655D"/>
                </a:solidFill>
                <a:latin typeface="Arial"/>
                <a:ea typeface="Arial"/>
                <a:cs typeface="Arial"/>
              </a:defRPr>
            </a:defPPr>
          </a:lstStyle>
          <a:p xmlns:a="http://schemas.openxmlformats.org/drawingml/2006/main">
            <a:pPr algn="l">
              <a:lnSpc>
                <a:spcPct val="110000"/>
              </a:lnSpc>
              <a:buNone/>
              <a:defRPr sz="2175" b="0">
                <a:solidFill>
                  <a:srgbClr val="52655D"/>
                </a:solidFill>
                <a:latin typeface="Arial"/>
                <a:ea typeface="Arial"/>
                <a:cs typeface="Arial"/>
              </a:defRPr>
            </a:pPr>
            <a:r>
              <a:rPr sz="2175" b="0">
                <a:solidFill>
                  <a:srgbClr val="52655D"/>
                </a:solidFill>
                <a:latin typeface="Arial"/>
                <a:ea typeface="Arial"/>
                <a:cs typeface="Arial"/>
              </a:rPr>
              <a:t>Historical performance is mixed. Prospective accuracy</a:t>
            </a:r>
          </a:p>
          <a:p xmlns:a="http://schemas.openxmlformats.org/drawingml/2006/main">
            <a:pPr algn="l">
              <a:lnSpc>
                <a:spcPct val="110000"/>
              </a:lnSpc>
              <a:buNone/>
              <a:defRPr sz="2175" b="0">
                <a:solidFill>
                  <a:srgbClr val="52655D"/>
                </a:solidFill>
                <a:latin typeface="Arial"/>
                <a:ea typeface="Arial"/>
                <a:cs typeface="Arial"/>
              </a:defRPr>
            </a:pPr>
            <a:r>
              <a:rPr sz="2175" b="0">
                <a:solidFill>
                  <a:srgbClr val="52655D"/>
                </a:solidFill>
                <a:latin typeface="Arial"/>
                <a:ea typeface="Arial"/>
                <a:cs typeface="Arial"/>
              </a:rPr>
              <a:t>and actual farmer income effects require new evaluation.</a:t>
            </a:r>
          </a:p>
        </p:txBody>
      </p:sp>
      <p:sp>
        <p:nvSpPr>
          <p:cNvPr id="8" name="future">
            <a:extLst xmlns:a="http://schemas.openxmlformats.org/drawingml/2006/main">
              <a:ext uri="{FF2B5EF4-FFF2-40B4-BE49-F238E27FC236}">
                <a16:creationId xmlns:a16="http://schemas.microsoft.com/office/drawing/2014/main" id="{989FD879-D857-4482-B880-21AC1FC8F567}"/>
              </a:ext>
            </a:extLst>
          </p:cNvPr>
          <p:cNvSpPr>
            <a:spLocks xmlns:a="http://schemas.openxmlformats.org/drawingml/2006/main" noGrp="1"/>
          </p:cNvSpPr>
          <p:nvPr/>
        </p:nvSpPr>
        <p:spPr>
          <a:xfrm xmlns:a="http://schemas.openxmlformats.org/drawingml/2006/main">
            <a:off x="600075" y="51054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73A32"/>
                </a:solidFill>
                <a:latin typeface="Arial"/>
                <a:ea typeface="Arial"/>
                <a:cs typeface="Arial"/>
              </a:defRPr>
            </a:defPPr>
          </a:lstStyle>
          <a:p xmlns:a="http://schemas.openxmlformats.org/drawingml/2006/main">
            <a:pPr algn="l">
              <a:lnSpc>
                <a:spcPct val="110000"/>
              </a:lnSpc>
              <a:buNone/>
              <a:defRPr sz="2625" b="1">
                <a:solidFill>
                  <a:srgbClr val="173A32"/>
                </a:solidFill>
                <a:latin typeface="Arial"/>
                <a:ea typeface="Arial"/>
                <a:cs typeface="Arial"/>
              </a:defRPr>
            </a:pPr>
            <a:r>
              <a:rPr sz="2625" b="1">
                <a:solidFill>
                  <a:srgbClr val="173A32"/>
                </a:solidFill>
                <a:latin typeface="Arial"/>
                <a:ea typeface="Arial"/>
                <a:cs typeface="Arial"/>
              </a:rPr>
              <a:t>National expansion</a:t>
            </a:r>
          </a:p>
        </p:txBody>
      </p:sp>
      <p:sp>
        <p:nvSpPr>
          <p:cNvPr id="9" name="future-detail">
            <a:extLst xmlns:a="http://schemas.openxmlformats.org/drawingml/2006/main">
              <a:ext uri="{FF2B5EF4-FFF2-40B4-BE49-F238E27FC236}">
                <a16:creationId xmlns:a16="http://schemas.microsoft.com/office/drawing/2014/main" id="{9931197D-8E05-4841-B9D7-1CFAABB996D4}"/>
              </a:ext>
            </a:extLst>
          </p:cNvPr>
          <p:cNvSpPr>
            <a:spLocks xmlns:a="http://schemas.openxmlformats.org/drawingml/2006/main" noGrp="1"/>
          </p:cNvSpPr>
          <p:nvPr/>
        </p:nvSpPr>
        <p:spPr>
          <a:xfrm xmlns:a="http://schemas.openxmlformats.org/drawingml/2006/main">
            <a:off x="600075" y="563880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73A32"/>
                </a:solidFill>
                <a:latin typeface="Arial"/>
                <a:ea typeface="Arial"/>
                <a:cs typeface="Arial"/>
              </a:defRPr>
            </a:defPPr>
          </a:lstStyle>
          <a:p xmlns:a="http://schemas.openxmlformats.org/drawingml/2006/main">
            <a:pPr algn="l">
              <a:lnSpc>
                <a:spcPct val="110000"/>
              </a:lnSpc>
              <a:buNone/>
              <a:defRPr sz="2100" b="0">
                <a:solidFill>
                  <a:srgbClr val="173A32"/>
                </a:solidFill>
                <a:latin typeface="Arial"/>
                <a:ea typeface="Arial"/>
                <a:cs typeface="Arial"/>
              </a:defRPr>
            </a:pPr>
            <a:r>
              <a:rPr sz="2100" b="0">
                <a:solidFill>
                  <a:srgbClr val="173A32"/>
                </a:solidFill>
                <a:latin typeface="Arial"/>
                <a:ea typeface="Arial"/>
                <a:cs typeface="Arial"/>
              </a:rPr>
              <a:t>Audit crop–region coverage across 28 states and 8 UTs.</a:t>
            </a:r>
          </a:p>
          <a:p xmlns:a="http://schemas.openxmlformats.org/drawingml/2006/main">
            <a:pPr algn="l">
              <a:lnSpc>
                <a:spcPct val="110000"/>
              </a:lnSpc>
              <a:buNone/>
              <a:defRPr sz="2100" b="0">
                <a:solidFill>
                  <a:srgbClr val="173A32"/>
                </a:solidFill>
                <a:latin typeface="Arial"/>
                <a:ea typeface="Arial"/>
                <a:cs typeface="Arial"/>
              </a:defRPr>
            </a:pPr>
            <a:r>
              <a:rPr sz="2100" b="0">
                <a:solidFill>
                  <a:srgbClr val="173A32"/>
                </a:solidFill>
                <a:latin typeface="Arial"/>
                <a:ea typeface="Arial"/>
                <a:cs typeface="Arial"/>
              </a:rPr>
              <a:t>Publish predictions only where data and validation support them.</a:t>
            </a:r>
          </a:p>
        </p:txBody>
      </p:sp>
    </p:spTree>
    <p:extLst>
      <p:ext uri="{BB962C8B-B14F-4D97-AF65-F5344CB8AC3E}">
        <p14:creationId xmlns:p14="http://schemas.microsoft.com/office/powerpoint/2010/main" val="303838207"/>
      </p:ext>
    </p:extLst>
  </p:cSld>
</p:sld>
</file>

<file path=ppt/slides/slide15.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7" name="title-15">
            <a:extLst xmlns:a="http://schemas.openxmlformats.org/drawingml/2006/main">
              <a:ext uri="{FF2B5EF4-FFF2-40B4-BE49-F238E27FC236}">
                <a16:creationId xmlns:a16="http://schemas.microsoft.com/office/drawing/2014/main" id="{BB1A6939-F23C-4420-9E94-52DEE41A4A3C}"/>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A32"/>
                </a:solidFill>
                <a:latin typeface="Arial"/>
                <a:ea typeface="Arial"/>
                <a:cs typeface="Arial"/>
              </a:defRPr>
            </a:defPPr>
          </a:lstStyle>
          <a:p xmlns:a="http://schemas.openxmlformats.org/drawingml/2006/main">
            <a:pPr algn="l">
              <a:lnSpc>
                <a:spcPct val="110000"/>
              </a:lnSpc>
              <a:buNone/>
              <a:defRPr sz="3525" b="1">
                <a:solidFill>
                  <a:srgbClr val="173A32"/>
                </a:solidFill>
                <a:latin typeface="Arial"/>
                <a:ea typeface="Arial"/>
                <a:cs typeface="Arial"/>
              </a:defRPr>
            </a:pPr>
            <a:r>
              <a:rPr sz="3525" b="1">
                <a:solidFill>
                  <a:srgbClr val="173A32"/>
                </a:solidFill>
                <a:latin typeface="Arial"/>
                <a:ea typeface="Arial"/>
                <a:cs typeface="Arial"/>
              </a:rPr>
              <a:t>References</a:t>
            </a:r>
          </a:p>
        </p:txBody>
      </p:sp>
      <p:sp>
        <p:nvSpPr>
          <p:cNvPr id="2" name="subtitle-15">
            <a:extLst xmlns:a="http://schemas.openxmlformats.org/drawingml/2006/main">
              <a:ext uri="{FF2B5EF4-FFF2-40B4-BE49-F238E27FC236}">
                <a16:creationId xmlns:a16="http://schemas.microsoft.com/office/drawing/2014/main" id="{265175A3-EE78-451E-A1D5-0CB5BC53BA0E}"/>
              </a:ext>
            </a:extLst>
          </p:cNvPr>
          <p:cNvSpPr>
            <a:spLocks xmlns:a="http://schemas.openxmlformats.org/drawingml/2006/main" noGrp="1"/>
          </p:cNvSpPr>
          <p:nvPr/>
        </p:nvSpPr>
        <p:spPr>
          <a:xfrm xmlns:a="http://schemas.openxmlformats.org/drawingml/2006/main">
            <a:off x="590550" y="11239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Project evidence, methods and data-source documentation</a:t>
            </a:r>
          </a:p>
        </p:txBody>
      </p:sp>
      <p:sp>
        <p:nvSpPr>
          <p:cNvPr id="3" name="page-15">
            <a:extLst xmlns:a="http://schemas.openxmlformats.org/drawingml/2006/main">
              <a:ext uri="{FF2B5EF4-FFF2-40B4-BE49-F238E27FC236}">
                <a16:creationId xmlns:a16="http://schemas.microsoft.com/office/drawing/2014/main" id="{4CEE53DD-2D0E-443E-8980-1EEDB54246A7}"/>
              </a:ext>
            </a:extLst>
          </p:cNvPr>
          <p:cNvSpPr>
            <a:spLocks xmlns:a="http://schemas.openxmlformats.org/drawingml/2006/main" noGrp="1"/>
          </p:cNvSpPr>
          <p:nvPr/>
        </p:nvSpPr>
        <p:spPr>
          <a:xfrm xmlns:a="http://schemas.openxmlformats.org/drawingml/2006/main">
            <a:off x="11344275" y="6419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55D"/>
                </a:solidFill>
                <a:latin typeface="Arial"/>
                <a:ea typeface="Arial"/>
                <a:cs typeface="Arial"/>
              </a:defRPr>
            </a:defPPr>
          </a:lstStyle>
          <a:p xmlns:a="http://schemas.openxmlformats.org/drawingml/2006/main">
            <a:pPr algn="l">
              <a:lnSpc>
                <a:spcPct val="110000"/>
              </a:lnSpc>
              <a:buNone/>
              <a:defRPr sz="1350" b="0">
                <a:solidFill>
                  <a:srgbClr val="52655D"/>
                </a:solidFill>
                <a:latin typeface="Arial"/>
                <a:ea typeface="Arial"/>
                <a:cs typeface="Arial"/>
              </a:defRPr>
            </a:pPr>
            <a:r>
              <a:rPr sz="1350" b="0">
                <a:solidFill>
                  <a:srgbClr val="52655D"/>
                </a:solidFill>
                <a:latin typeface="Arial"/>
                <a:ea typeface="Arial"/>
                <a:cs typeface="Arial"/>
              </a:rPr>
              <a:t>15</a:t>
            </a:r>
          </a:p>
        </p:txBody>
      </p:sp>
      <p:sp>
        <p:nvSpPr>
          <p:cNvPr id="4" name="ref-h-0">
            <a:extLst xmlns:a="http://schemas.openxmlformats.org/drawingml/2006/main">
              <a:ext uri="{FF2B5EF4-FFF2-40B4-BE49-F238E27FC236}">
                <a16:creationId xmlns:a16="http://schemas.microsoft.com/office/drawing/2014/main" id="{62E3978B-F0BD-4358-A217-12B4E231EA4D}"/>
              </a:ext>
            </a:extLst>
          </p:cNvPr>
          <p:cNvSpPr>
            <a:spLocks xmlns:a="http://schemas.openxmlformats.org/drawingml/2006/main" noGrp="1"/>
          </p:cNvSpPr>
          <p:nvPr/>
        </p:nvSpPr>
        <p:spPr>
          <a:xfrm xmlns:a="http://schemas.openxmlformats.org/drawingml/2006/main">
            <a:off x="600075" y="18192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Project data and saved results</a:t>
            </a:r>
          </a:p>
        </p:txBody>
      </p:sp>
      <p:sp>
        <p:nvSpPr>
          <p:cNvPr id="5" name="ref-b-0">
            <a:extLst xmlns:a="http://schemas.openxmlformats.org/drawingml/2006/main">
              <a:ext uri="{FF2B5EF4-FFF2-40B4-BE49-F238E27FC236}">
                <a16:creationId xmlns:a16="http://schemas.microsoft.com/office/drawing/2014/main" id="{26DFF58E-602D-40D0-9604-E9B92F2DA123}"/>
              </a:ext>
            </a:extLst>
          </p:cNvPr>
          <p:cNvSpPr>
            <a:spLocks xmlns:a="http://schemas.openxmlformats.org/drawingml/2006/main" noGrp="1"/>
          </p:cNvSpPr>
          <p:nvPr/>
        </p:nvSpPr>
        <p:spPr>
          <a:xfrm xmlns:a="http://schemas.openxmlformats.org/drawingml/2006/main">
            <a:off x="600075" y="23145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agriIntel_merged_final_v.csv</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M0 audit, M3 yield and M5 ranking manifests</a:t>
            </a:r>
          </a:p>
        </p:txBody>
      </p:sp>
      <p:sp>
        <p:nvSpPr>
          <p:cNvPr id="6" name="ref-h-1">
            <a:extLst xmlns:a="http://schemas.openxmlformats.org/drawingml/2006/main">
              <a:ext uri="{FF2B5EF4-FFF2-40B4-BE49-F238E27FC236}">
                <a16:creationId xmlns:a16="http://schemas.microsoft.com/office/drawing/2014/main" id="{3D752FF5-361A-41DF-A8B6-969155D44EF0}"/>
              </a:ext>
            </a:extLst>
          </p:cNvPr>
          <p:cNvSpPr>
            <a:spLocks xmlns:a="http://schemas.openxmlformats.org/drawingml/2006/main" noGrp="1"/>
          </p:cNvSpPr>
          <p:nvPr/>
        </p:nvSpPr>
        <p:spPr>
          <a:xfrm xmlns:a="http://schemas.openxmlformats.org/drawingml/2006/main">
            <a:off x="6305550" y="18192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Project implementation</a:t>
            </a:r>
          </a:p>
        </p:txBody>
      </p:sp>
      <p:sp>
        <p:nvSpPr>
          <p:cNvPr id="7" name="ref-b-1">
            <a:extLst xmlns:a="http://schemas.openxmlformats.org/drawingml/2006/main">
              <a:ext uri="{FF2B5EF4-FFF2-40B4-BE49-F238E27FC236}">
                <a16:creationId xmlns:a16="http://schemas.microsoft.com/office/drawing/2014/main" id="{1FF1A99F-F929-4AF1-80F1-79105E03BA9B}"/>
              </a:ext>
            </a:extLst>
          </p:cNvPr>
          <p:cNvSpPr>
            <a:spLocks xmlns:a="http://schemas.openxmlformats.org/drawingml/2006/main" noGrp="1"/>
          </p:cNvSpPr>
          <p:nvPr/>
        </p:nvSpPr>
        <p:spPr>
          <a:xfrm xmlns:a="http://schemas.openxmlformats.org/drawingml/2006/main">
            <a:off x="6305550" y="23145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config/pipeline.yaml</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modules/ and backend/main.py</a:t>
            </a:r>
          </a:p>
        </p:txBody>
      </p:sp>
      <p:sp>
        <p:nvSpPr>
          <p:cNvPr id="8" name="ref-h-2">
            <a:extLst xmlns:a="http://schemas.openxmlformats.org/drawingml/2006/main">
              <a:ext uri="{FF2B5EF4-FFF2-40B4-BE49-F238E27FC236}">
                <a16:creationId xmlns:a16="http://schemas.microsoft.com/office/drawing/2014/main" id="{537D4B5F-27EA-4F0F-A3A4-77F1E15AA7B4}"/>
              </a:ext>
            </a:extLst>
          </p:cNvPr>
          <p:cNvSpPr>
            <a:spLocks xmlns:a="http://schemas.openxmlformats.org/drawingml/2006/main" noGrp="1"/>
          </p:cNvSpPr>
          <p:nvPr/>
        </p:nvSpPr>
        <p:spPr>
          <a:xfrm xmlns:a="http://schemas.openxmlformats.org/drawingml/2006/main">
            <a:off x="600075" y="32289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Official agricultural statistics</a:t>
            </a:r>
          </a:p>
        </p:txBody>
      </p:sp>
      <p:sp>
        <p:nvSpPr>
          <p:cNvPr id="9" name="ref-b-2">
            <a:extLst xmlns:a="http://schemas.openxmlformats.org/drawingml/2006/main">
              <a:ext uri="{FF2B5EF4-FFF2-40B4-BE49-F238E27FC236}">
                <a16:creationId xmlns:a16="http://schemas.microsoft.com/office/drawing/2014/main" id="{60B86EB4-B8D7-499D-BF37-E3630900328B}"/>
              </a:ext>
            </a:extLst>
          </p:cNvPr>
          <p:cNvSpPr>
            <a:spLocks xmlns:a="http://schemas.openxmlformats.org/drawingml/2006/main" noGrp="1"/>
          </p:cNvSpPr>
          <p:nvPr/>
        </p:nvSpPr>
        <p:spPr>
          <a:xfrm xmlns:a="http://schemas.openxmlformats.org/drawingml/2006/main">
            <a:off x="600075" y="37242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Directorate of Economics and Statistics</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data.desagri.gov.in</a:t>
            </a:r>
          </a:p>
        </p:txBody>
      </p:sp>
      <p:sp>
        <p:nvSpPr>
          <p:cNvPr id="10" name="ref-h-3">
            <a:extLst xmlns:a="http://schemas.openxmlformats.org/drawingml/2006/main">
              <a:ext uri="{FF2B5EF4-FFF2-40B4-BE49-F238E27FC236}">
                <a16:creationId xmlns:a16="http://schemas.microsoft.com/office/drawing/2014/main" id="{18E47C30-DAF2-45E6-A771-3CF332F1F04E}"/>
              </a:ext>
            </a:extLst>
          </p:cNvPr>
          <p:cNvSpPr>
            <a:spLocks xmlns:a="http://schemas.openxmlformats.org/drawingml/2006/main" noGrp="1"/>
          </p:cNvSpPr>
          <p:nvPr/>
        </p:nvSpPr>
        <p:spPr>
          <a:xfrm xmlns:a="http://schemas.openxmlformats.org/drawingml/2006/main">
            <a:off x="6305550" y="32289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Climate and inflation sources</a:t>
            </a:r>
          </a:p>
        </p:txBody>
      </p:sp>
      <p:sp>
        <p:nvSpPr>
          <p:cNvPr id="11" name="ref-b-3">
            <a:extLst xmlns:a="http://schemas.openxmlformats.org/drawingml/2006/main">
              <a:ext uri="{FF2B5EF4-FFF2-40B4-BE49-F238E27FC236}">
                <a16:creationId xmlns:a16="http://schemas.microsoft.com/office/drawing/2014/main" id="{EAB63662-0781-42AC-A125-1478BAB77539}"/>
              </a:ext>
            </a:extLst>
          </p:cNvPr>
          <p:cNvSpPr>
            <a:spLocks xmlns:a="http://schemas.openxmlformats.org/drawingml/2006/main" noGrp="1"/>
          </p:cNvSpPr>
          <p:nvPr/>
        </p:nvSpPr>
        <p:spPr>
          <a:xfrm xmlns:a="http://schemas.openxmlformats.org/drawingml/2006/main">
            <a:off x="6305550" y="37242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IMD gridded rainfall / imdpune.gov.in</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World Bank CPI / indicator FP.CPI.TOTL</a:t>
            </a:r>
          </a:p>
        </p:txBody>
      </p:sp>
      <p:sp>
        <p:nvSpPr>
          <p:cNvPr id="12" name="ref-h-4">
            <a:extLst xmlns:a="http://schemas.openxmlformats.org/drawingml/2006/main">
              <a:ext uri="{FF2B5EF4-FFF2-40B4-BE49-F238E27FC236}">
                <a16:creationId xmlns:a16="http://schemas.microsoft.com/office/drawing/2014/main" id="{6C68D877-47BF-4CBE-B903-7B3A4322B777}"/>
              </a:ext>
            </a:extLst>
          </p:cNvPr>
          <p:cNvSpPr>
            <a:spLocks xmlns:a="http://schemas.openxmlformats.org/drawingml/2006/main" noGrp="1"/>
          </p:cNvSpPr>
          <p:nvPr/>
        </p:nvSpPr>
        <p:spPr>
          <a:xfrm xmlns:a="http://schemas.openxmlformats.org/drawingml/2006/main">
            <a:off x="600075" y="46386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Model and application libraries</a:t>
            </a:r>
          </a:p>
        </p:txBody>
      </p:sp>
      <p:sp>
        <p:nvSpPr>
          <p:cNvPr id="13" name="ref-b-4">
            <a:extLst xmlns:a="http://schemas.openxmlformats.org/drawingml/2006/main">
              <a:ext uri="{FF2B5EF4-FFF2-40B4-BE49-F238E27FC236}">
                <a16:creationId xmlns:a16="http://schemas.microsoft.com/office/drawing/2014/main" id="{D9AF9D55-A32C-431B-B18E-2967A27C9512}"/>
              </a:ext>
            </a:extLst>
          </p:cNvPr>
          <p:cNvSpPr>
            <a:spLocks xmlns:a="http://schemas.openxmlformats.org/drawingml/2006/main" noGrp="1"/>
          </p:cNvSpPr>
          <p:nvPr/>
        </p:nvSpPr>
        <p:spPr>
          <a:xfrm xmlns:a="http://schemas.openxmlformats.org/drawingml/2006/main">
            <a:off x="600075" y="51339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LightGBM / lightgbm.readthedocs.io</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FastAPI / fastapi.tiangolo.com   React / react.dev</a:t>
            </a:r>
          </a:p>
        </p:txBody>
      </p:sp>
      <p:sp>
        <p:nvSpPr>
          <p:cNvPr id="14" name="ref-h-5">
            <a:extLst xmlns:a="http://schemas.openxmlformats.org/drawingml/2006/main">
              <a:ext uri="{FF2B5EF4-FFF2-40B4-BE49-F238E27FC236}">
                <a16:creationId xmlns:a16="http://schemas.microsoft.com/office/drawing/2014/main" id="{9DCDCA7E-1CC2-4245-8409-5B52B850BED8}"/>
              </a:ext>
            </a:extLst>
          </p:cNvPr>
          <p:cNvSpPr>
            <a:spLocks xmlns:a="http://schemas.openxmlformats.org/drawingml/2006/main" noGrp="1"/>
          </p:cNvSpPr>
          <p:nvPr/>
        </p:nvSpPr>
        <p:spPr>
          <a:xfrm xmlns:a="http://schemas.openxmlformats.org/drawingml/2006/main">
            <a:off x="6305550" y="4638675"/>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A32"/>
                </a:solidFill>
                <a:latin typeface="Arial"/>
                <a:ea typeface="Arial"/>
                <a:cs typeface="Arial"/>
              </a:defRPr>
            </a:defPPr>
          </a:lstStyle>
          <a:p xmlns:a="http://schemas.openxmlformats.org/drawingml/2006/main">
            <a:pPr algn="l">
              <a:lnSpc>
                <a:spcPct val="110000"/>
              </a:lnSpc>
              <a:buNone/>
              <a:defRPr sz="2100" b="1">
                <a:solidFill>
                  <a:srgbClr val="173A32"/>
                </a:solidFill>
                <a:latin typeface="Arial"/>
                <a:ea typeface="Arial"/>
                <a:cs typeface="Arial"/>
              </a:defRPr>
            </a:pPr>
            <a:r>
              <a:rPr sz="2100" b="1">
                <a:solidFill>
                  <a:srgbClr val="173A32"/>
                </a:solidFill>
                <a:latin typeface="Arial"/>
                <a:ea typeface="Arial"/>
                <a:cs typeface="Arial"/>
              </a:rPr>
              <a:t>Prediction feedback research</a:t>
            </a:r>
          </a:p>
        </p:txBody>
      </p:sp>
      <p:sp>
        <p:nvSpPr>
          <p:cNvPr id="15" name="ref-b-5">
            <a:extLst xmlns:a="http://schemas.openxmlformats.org/drawingml/2006/main">
              <a:ext uri="{FF2B5EF4-FFF2-40B4-BE49-F238E27FC236}">
                <a16:creationId xmlns:a16="http://schemas.microsoft.com/office/drawing/2014/main" id="{F20E7F47-0F64-4AC6-8F6C-3E2481F048EC}"/>
              </a:ext>
            </a:extLst>
          </p:cNvPr>
          <p:cNvSpPr>
            <a:spLocks xmlns:a="http://schemas.openxmlformats.org/drawingml/2006/main" noGrp="1"/>
          </p:cNvSpPr>
          <p:nvPr/>
        </p:nvSpPr>
        <p:spPr>
          <a:xfrm xmlns:a="http://schemas.openxmlformats.org/drawingml/2006/main">
            <a:off x="6305550" y="5133975"/>
            <a:ext cx="5257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5D"/>
                </a:solidFill>
                <a:latin typeface="Arial"/>
                <a:ea typeface="Arial"/>
                <a:cs typeface="Arial"/>
              </a:defRPr>
            </a:defPPr>
          </a:lstStyle>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Perdomo et al. (2020), Performative Prediction</a:t>
            </a:r>
          </a:p>
          <a:p xmlns:a="http://schemas.openxmlformats.org/drawingml/2006/main">
            <a:pPr algn="l">
              <a:lnSpc>
                <a:spcPct val="110000"/>
              </a:lnSpc>
              <a:buNone/>
              <a:defRPr sz="1875" b="0">
                <a:solidFill>
                  <a:srgbClr val="52655D"/>
                </a:solidFill>
                <a:latin typeface="Arial"/>
                <a:ea typeface="Arial"/>
                <a:cs typeface="Arial"/>
              </a:defRPr>
            </a:pPr>
            <a:r>
              <a:rPr sz="1875" b="0">
                <a:solidFill>
                  <a:srgbClr val="52655D"/>
                </a:solidFill>
                <a:latin typeface="Arial"/>
                <a:ea typeface="Arial"/>
                <a:cs typeface="Arial"/>
              </a:rPr>
              <a:t>ICML, Proceedings of Machine Learning Research 119</a:t>
            </a:r>
          </a:p>
        </p:txBody>
      </p:sp>
      <p:sp>
        <p:nvSpPr>
          <p:cNvPr id="16" name="footnote-15">
            <a:extLst xmlns:a="http://schemas.openxmlformats.org/drawingml/2006/main">
              <a:ext uri="{FF2B5EF4-FFF2-40B4-BE49-F238E27FC236}">
                <a16:creationId xmlns:a16="http://schemas.microsoft.com/office/drawing/2014/main" id="{3FF762D6-25ED-4B88-B773-D353682303C1}"/>
              </a:ext>
            </a:extLst>
          </p:cNvPr>
          <p:cNvSpPr>
            <a:spLocks xmlns:a="http://schemas.openxmlformats.org/drawingml/2006/main" noGrp="1"/>
          </p:cNvSpPr>
          <p:nvPr/>
        </p:nvSpPr>
        <p:spPr>
          <a:xfrm xmlns:a="http://schemas.openxmlformats.org/drawingml/2006/main">
            <a:off x="590550" y="60864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2655D"/>
                </a:solidFill>
                <a:latin typeface="Arial"/>
                <a:ea typeface="Arial"/>
                <a:cs typeface="Arial"/>
              </a:defRPr>
            </a:defPPr>
          </a:lstStyle>
          <a:p xmlns:a="http://schemas.openxmlformats.org/drawingml/2006/main">
            <a:pPr algn="l">
              <a:lnSpc>
                <a:spcPct val="110000"/>
              </a:lnSpc>
              <a:buNone/>
              <a:defRPr sz="1650" b="0">
                <a:solidFill>
                  <a:srgbClr val="52655D"/>
                </a:solidFill>
                <a:latin typeface="Arial"/>
                <a:ea typeface="Arial"/>
                <a:cs typeface="Arial"/>
              </a:defRPr>
            </a:pPr>
            <a:r>
              <a:rPr sz="1650" b="0">
                <a:solidFill>
                  <a:srgbClr val="52655D"/>
                </a:solidFill>
                <a:latin typeface="Arial"/>
                <a:ea typeface="Arial"/>
                <a:cs typeface="Arial"/>
              </a:rPr>
              <a:t>Full source paths, URLs and evidence qualifications appear in the speaker notes.</a:t>
            </a:r>
          </a:p>
        </p:txBody>
      </p:sp>
    </p:spTree>
    <p:extLst>
      <p:ext uri="{BB962C8B-B14F-4D97-AF65-F5344CB8AC3E}">
        <p14:creationId xmlns:p14="http://schemas.microsoft.com/office/powerpoint/2010/main" val="502235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2026-10-13T16:27:40.5950000Z</dcterms:created>
  <dcterms:modified xsi:type="dcterms:W3CDTF">2026-10-13T16:27:40.5950000Z</dcterms:modified>
</coreProperties>
</file>